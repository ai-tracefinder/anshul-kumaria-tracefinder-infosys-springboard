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4630400" cy="8229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6" name="Shape 6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/>
          <p:nvPr>
            <p:ph type="title"/>
          </p:nvPr>
        </p:nvSpPr>
        <p:spPr>
          <a:xfrm>
            <a:off x="1097280" y="2551176"/>
            <a:ext cx="12435841" cy="1728217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4" name="Body Level One…"/>
          <p:cNvSpPr txBox="1"/>
          <p:nvPr>
            <p:ph type="body" sz="quarter" idx="1"/>
          </p:nvPr>
        </p:nvSpPr>
        <p:spPr>
          <a:xfrm>
            <a:off x="2194560" y="4608576"/>
            <a:ext cx="10241281" cy="2057401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g object 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4040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3" name="bg object 17" descr="bg object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839192" y="7749537"/>
            <a:ext cx="1722628" cy="411479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5" name="Body Level One…"/>
          <p:cNvSpPr txBox="1"/>
          <p:nvPr>
            <p:ph type="body" sz="quarter" idx="1"/>
          </p:nvPr>
        </p:nvSpPr>
        <p:spPr>
          <a:xfrm>
            <a:off x="1342136" y="1453641"/>
            <a:ext cx="6233160" cy="2140587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4" name="Body Level One…"/>
          <p:cNvSpPr txBox="1"/>
          <p:nvPr>
            <p:ph type="body" sz="quarter" idx="1"/>
          </p:nvPr>
        </p:nvSpPr>
        <p:spPr>
          <a:xfrm>
            <a:off x="1342136" y="1453641"/>
            <a:ext cx="6233160" cy="2140587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3" name="Body Level One…"/>
          <p:cNvSpPr txBox="1"/>
          <p:nvPr>
            <p:ph type="body" sz="half" idx="1"/>
          </p:nvPr>
        </p:nvSpPr>
        <p:spPr>
          <a:xfrm>
            <a:off x="731519" y="1892807"/>
            <a:ext cx="6364225" cy="5431537"/>
          </a:xfrm>
          <a:prstGeom prst="rect">
            <a:avLst/>
          </a:prstGeom>
        </p:spPr>
        <p:txBody>
          <a:bodyPr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object 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4040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" name="bg object 17" descr="bg object 1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839192" y="7749537"/>
            <a:ext cx="1722628" cy="411479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Title Text"/>
          <p:cNvSpPr txBox="1"/>
          <p:nvPr>
            <p:ph type="title"/>
          </p:nvPr>
        </p:nvSpPr>
        <p:spPr>
          <a:xfrm>
            <a:off x="692301" y="240233"/>
            <a:ext cx="13358090" cy="18029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5" name="Body Level One…"/>
          <p:cNvSpPr txBox="1"/>
          <p:nvPr>
            <p:ph type="body" idx="1"/>
          </p:nvPr>
        </p:nvSpPr>
        <p:spPr>
          <a:xfrm>
            <a:off x="731520" y="1920239"/>
            <a:ext cx="13167361" cy="54311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/>
          <p:nvPr>
            <p:ph type="sldNum" sz="quarter" idx="2"/>
          </p:nvPr>
        </p:nvSpPr>
        <p:spPr>
          <a:xfrm>
            <a:off x="13631907" y="7653528"/>
            <a:ext cx="266973" cy="2794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defRPr>
                <a:solidFill>
                  <a:srgbClr val="888888"/>
                </a:solidFill>
                <a:latin typeface="+mj-lt"/>
                <a:ea typeface="+mj-ea"/>
                <a:cs typeface="+mj-cs"/>
                <a:sym typeface="Helvetica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900" u="sng">
          <a:solidFill>
            <a:srgbClr val="F1F1F3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900" u="sng">
          <a:solidFill>
            <a:srgbClr val="F1F1F3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900" u="sng">
          <a:solidFill>
            <a:srgbClr val="F1F1F3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900" u="sng">
          <a:solidFill>
            <a:srgbClr val="F1F1F3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900" u="sng">
          <a:solidFill>
            <a:srgbClr val="F1F1F3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900" u="sng">
          <a:solidFill>
            <a:srgbClr val="F1F1F3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900" u="sng">
          <a:solidFill>
            <a:srgbClr val="F1F1F3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900" u="sng">
          <a:solidFill>
            <a:srgbClr val="F1F1F3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900" u="sng">
          <a:solidFill>
            <a:srgbClr val="F1F1F3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F1F1F3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F1F1F3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F1F1F3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F1F1F3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F1F1F3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F1F1F3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F1F1F3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F1F1F3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solidFill>
            <a:srgbClr val="F1F1F3"/>
          </a:solidFill>
          <a:uFillTx/>
          <a:latin typeface="Lucida Sans Unicode"/>
          <a:ea typeface="Lucida Sans Unicode"/>
          <a:cs typeface="Lucida Sans Unicode"/>
          <a:sym typeface="Lucida Sans Unicode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eg"/><Relationship Id="rId3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e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1862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object 6"/>
          <p:cNvSpPr txBox="1"/>
          <p:nvPr/>
        </p:nvSpPr>
        <p:spPr>
          <a:xfrm>
            <a:off x="5865078" y="3880792"/>
            <a:ext cx="2900244" cy="468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6984">
              <a:defRPr sz="2800">
                <a:solidFill>
                  <a:srgbClr val="F1F1F3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lvl1pPr>
          </a:lstStyle>
          <a:p>
            <a:pPr/>
            <a:r>
              <a:t>AI - TraceFinder</a:t>
            </a:r>
          </a:p>
        </p:txBody>
      </p:sp>
      <p:sp>
        <p:nvSpPr>
          <p:cNvPr id="69" name="object 7"/>
          <p:cNvSpPr txBox="1"/>
          <p:nvPr/>
        </p:nvSpPr>
        <p:spPr>
          <a:xfrm>
            <a:off x="6078641" y="7008876"/>
            <a:ext cx="2473118" cy="345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i="1" spc="-10" sz="2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Anshul Kumaria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1862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Device Identification"/>
          <p:cNvSpPr txBox="1"/>
          <p:nvPr>
            <p:ph type="title"/>
          </p:nvPr>
        </p:nvSpPr>
        <p:spPr>
          <a:xfrm>
            <a:off x="636155" y="646633"/>
            <a:ext cx="13358090" cy="1802944"/>
          </a:xfrm>
          <a:prstGeom prst="rect">
            <a:avLst/>
          </a:prstGeom>
        </p:spPr>
        <p:txBody>
          <a:bodyPr/>
          <a:lstStyle>
            <a:lvl1pPr indent="5180965"/>
          </a:lstStyle>
          <a:p>
            <a:pPr/>
            <a:r>
              <a:t>Device Identification </a:t>
            </a:r>
          </a:p>
        </p:txBody>
      </p:sp>
      <p:sp>
        <p:nvSpPr>
          <p:cNvPr id="72" name="object 6"/>
          <p:cNvSpPr txBox="1"/>
          <p:nvPr/>
        </p:nvSpPr>
        <p:spPr>
          <a:xfrm>
            <a:off x="680964" y="2305992"/>
            <a:ext cx="13268472" cy="3363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z="2800">
                <a:solidFill>
                  <a:srgbClr val="F1F1F3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Our</a:t>
            </a:r>
            <a:r>
              <a:rPr spc="-128"/>
              <a:t> </a:t>
            </a:r>
            <a:r>
              <a:t>Objective:</a:t>
            </a:r>
            <a:r>
              <a:rPr spc="-122"/>
              <a:t> </a:t>
            </a:r>
            <a:r>
              <a:rPr spc="81"/>
              <a:t>Build</a:t>
            </a:r>
            <a:r>
              <a:rPr spc="-93"/>
              <a:t> </a:t>
            </a:r>
            <a:r>
              <a:rPr spc="215"/>
              <a:t>an</a:t>
            </a:r>
            <a:r>
              <a:rPr spc="-75"/>
              <a:t> </a:t>
            </a:r>
            <a:r>
              <a:rPr spc="70"/>
              <a:t>intelligent</a:t>
            </a:r>
            <a:r>
              <a:rPr spc="-75"/>
              <a:t> </a:t>
            </a:r>
            <a:r>
              <a:rPr spc="186"/>
              <a:t>system</a:t>
            </a:r>
            <a:r>
              <a:rPr spc="-81"/>
              <a:t> </a:t>
            </a:r>
            <a:r>
              <a:rPr spc="87"/>
              <a:t>that</a:t>
            </a:r>
            <a:r>
              <a:rPr spc="-75"/>
              <a:t> </a:t>
            </a:r>
            <a:r>
              <a:rPr spc="186"/>
              <a:t>can </a:t>
            </a:r>
            <a:r>
              <a:rPr spc="110"/>
              <a:t>accurately</a:t>
            </a:r>
            <a:r>
              <a:rPr spc="-11"/>
              <a:t> </a:t>
            </a:r>
            <a:r>
              <a:t>predict</a:t>
            </a:r>
            <a:r>
              <a:rPr spc="5"/>
              <a:t> </a:t>
            </a:r>
            <a:r>
              <a:t>the</a:t>
            </a:r>
            <a:r>
              <a:rPr spc="-17"/>
              <a:t> </a:t>
            </a:r>
            <a:r>
              <a:rPr spc="145"/>
              <a:t>scanner</a:t>
            </a:r>
            <a:r>
              <a:rPr spc="23"/>
              <a:t> </a:t>
            </a:r>
            <a:r>
              <a:rPr spc="93"/>
              <a:t>brand</a:t>
            </a:r>
            <a:r>
              <a:rPr spc="17"/>
              <a:t> </a:t>
            </a:r>
            <a:r>
              <a:rPr spc="93"/>
              <a:t>from</a:t>
            </a:r>
            <a:r>
              <a:rPr spc="11"/>
              <a:t> </a:t>
            </a:r>
            <a:r>
              <a:rPr spc="192"/>
              <a:t>scanned</a:t>
            </a:r>
            <a:r>
              <a:rPr spc="5"/>
              <a:t> </a:t>
            </a:r>
            <a:r>
              <a:rPr spc="221"/>
              <a:t>images </a:t>
            </a:r>
            <a:r>
              <a:rPr spc="186"/>
              <a:t>using</a:t>
            </a:r>
            <a:r>
              <a:rPr spc="-87"/>
              <a:t> </a:t>
            </a:r>
            <a:r>
              <a:rPr spc="163"/>
              <a:t>machine</a:t>
            </a:r>
            <a:r>
              <a:rPr spc="-87"/>
              <a:t> </a:t>
            </a:r>
            <a:r>
              <a:rPr spc="104"/>
              <a:t>learning</a:t>
            </a:r>
            <a:r>
              <a:rPr spc="-58"/>
              <a:t> </a:t>
            </a:r>
            <a:r>
              <a:rPr spc="186"/>
              <a:t>and</a:t>
            </a:r>
            <a:r>
              <a:rPr spc="-70"/>
              <a:t> </a:t>
            </a:r>
            <a:r>
              <a:rPr spc="110"/>
              <a:t>deep</a:t>
            </a:r>
            <a:r>
              <a:rPr spc="-75"/>
              <a:t> </a:t>
            </a:r>
            <a:r>
              <a:rPr spc="99"/>
              <a:t>learning</a:t>
            </a:r>
            <a:r>
              <a:rPr spc="-64"/>
              <a:t> </a:t>
            </a:r>
            <a:r>
              <a:rPr spc="99"/>
              <a:t>techniques. </a:t>
            </a:r>
            <a:br>
              <a:rPr spc="99"/>
            </a:br>
            <a:br>
              <a:rPr spc="99"/>
            </a:br>
            <a:r>
              <a:t>Scanned</a:t>
            </a:r>
            <a:r>
              <a:rPr spc="-64"/>
              <a:t> </a:t>
            </a:r>
            <a:r>
              <a:rPr spc="145"/>
              <a:t>documents</a:t>
            </a:r>
            <a:r>
              <a:rPr spc="-81"/>
              <a:t> </a:t>
            </a:r>
            <a:r>
              <a:rPr spc="99"/>
              <a:t>contain</a:t>
            </a:r>
            <a:r>
              <a:rPr spc="-58"/>
              <a:t> </a:t>
            </a:r>
            <a:r>
              <a:rPr spc="99"/>
              <a:t>hidden</a:t>
            </a:r>
            <a:r>
              <a:rPr spc="-70"/>
              <a:t> </a:t>
            </a:r>
            <a:r>
              <a:rPr spc="75"/>
              <a:t>device-</a:t>
            </a:r>
            <a:r>
              <a:rPr spc="140"/>
              <a:t>specific </a:t>
            </a:r>
            <a:r>
              <a:rPr spc="93"/>
              <a:t>patterns</a:t>
            </a:r>
            <a:r>
              <a:rPr spc="-35"/>
              <a:t> </a:t>
            </a:r>
            <a:r>
              <a:rPr spc="93"/>
              <a:t>invisible</a:t>
            </a:r>
            <a:r>
              <a:rPr spc="-70"/>
              <a:t> </a:t>
            </a:r>
            <a:r>
              <a:t>to</a:t>
            </a:r>
            <a:r>
              <a:rPr spc="-52"/>
              <a:t> </a:t>
            </a:r>
            <a:r>
              <a:t>the</a:t>
            </a:r>
            <a:r>
              <a:rPr spc="-75"/>
              <a:t> </a:t>
            </a:r>
            <a:r>
              <a:t>human</a:t>
            </a:r>
            <a:r>
              <a:rPr spc="-70"/>
              <a:t> </a:t>
            </a:r>
            <a:r>
              <a:rPr spc="-93"/>
              <a:t>eye—</a:t>
            </a:r>
            <a:r>
              <a:rPr spc="104"/>
              <a:t>subtle</a:t>
            </a:r>
            <a:r>
              <a:rPr spc="-81"/>
              <a:t> </a:t>
            </a:r>
            <a:r>
              <a:rPr spc="122"/>
              <a:t>artefacts</a:t>
            </a:r>
            <a:r>
              <a:rPr spc="-35"/>
              <a:t> </a:t>
            </a:r>
            <a:r>
              <a:rPr spc="157"/>
              <a:t>and </a:t>
            </a:r>
            <a:r>
              <a:rPr spc="116"/>
              <a:t>noise</a:t>
            </a:r>
            <a:r>
              <a:rPr spc="-81"/>
              <a:t> </a:t>
            </a:r>
            <a:r>
              <a:rPr spc="145"/>
              <a:t>signatures</a:t>
            </a:r>
            <a:r>
              <a:rPr spc="-75"/>
              <a:t> </a:t>
            </a:r>
            <a:r>
              <a:rPr spc="99"/>
              <a:t>unique</a:t>
            </a:r>
            <a:r>
              <a:rPr spc="-122"/>
              <a:t> </a:t>
            </a:r>
            <a:r>
              <a:t>to</a:t>
            </a:r>
            <a:r>
              <a:rPr spc="-87"/>
              <a:t> </a:t>
            </a:r>
            <a:r>
              <a:rPr spc="180"/>
              <a:t>each</a:t>
            </a:r>
            <a:r>
              <a:rPr spc="-93"/>
              <a:t> </a:t>
            </a:r>
            <a:r>
              <a:rPr spc="145"/>
              <a:t>scanner</a:t>
            </a:r>
            <a:r>
              <a:rPr spc="-75"/>
              <a:t> </a:t>
            </a:r>
            <a:r>
              <a:rPr spc="81"/>
              <a:t>model.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1862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Dataset"/>
          <p:cNvSpPr txBox="1"/>
          <p:nvPr>
            <p:ph type="title"/>
          </p:nvPr>
        </p:nvSpPr>
        <p:spPr>
          <a:xfrm>
            <a:off x="692302" y="307338"/>
            <a:ext cx="7240269" cy="513717"/>
          </a:xfrm>
          <a:prstGeom prst="rect">
            <a:avLst/>
          </a:prstGeom>
        </p:spPr>
        <p:txBody>
          <a:bodyPr/>
          <a:lstStyle>
            <a:lvl1pPr indent="12064" defTabSz="868680">
              <a:defRPr sz="3040"/>
            </a:lvl1pPr>
          </a:lstStyle>
          <a:p>
            <a:pPr/>
            <a:r>
              <a:t>Dataset</a:t>
            </a:r>
          </a:p>
        </p:txBody>
      </p:sp>
      <p:pic>
        <p:nvPicPr>
          <p:cNvPr id="75" name="object 2" descr="object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04851" y="1511125"/>
            <a:ext cx="6187314" cy="6187312"/>
          </a:xfrm>
          <a:prstGeom prst="rect">
            <a:avLst/>
          </a:prstGeom>
          <a:ln w="12700">
            <a:miter lim="400000"/>
          </a:ln>
        </p:spPr>
      </p:pic>
      <p:sp>
        <p:nvSpPr>
          <p:cNvPr id="76" name="object 4"/>
          <p:cNvSpPr txBox="1"/>
          <p:nvPr/>
        </p:nvSpPr>
        <p:spPr>
          <a:xfrm>
            <a:off x="507593" y="1499233"/>
            <a:ext cx="6792594" cy="49104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96850">
              <a:lnSpc>
                <a:spcPct val="99800"/>
              </a:lnSpc>
              <a:defRPr spc="-155" sz="2400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We</a:t>
            </a:r>
            <a:r>
              <a:rPr spc="-80"/>
              <a:t> </a:t>
            </a:r>
            <a:r>
              <a:rPr spc="165"/>
              <a:t>assembled</a:t>
            </a:r>
            <a:r>
              <a:rPr spc="-50"/>
              <a:t> </a:t>
            </a:r>
            <a:r>
              <a:rPr spc="254"/>
              <a:t>a</a:t>
            </a:r>
            <a:r>
              <a:rPr spc="-70"/>
              <a:t> </a:t>
            </a:r>
            <a:r>
              <a:rPr spc="95"/>
              <a:t>comprehensive</a:t>
            </a:r>
            <a:r>
              <a:rPr spc="-50"/>
              <a:t> </a:t>
            </a:r>
            <a:r>
              <a:rPr spc="55"/>
              <a:t>collection</a:t>
            </a:r>
            <a:r>
              <a:rPr spc="-55"/>
              <a:t> </a:t>
            </a:r>
            <a:r>
              <a:rPr spc="80"/>
              <a:t>of </a:t>
            </a:r>
            <a:r>
              <a:rPr spc="165"/>
              <a:t>scanned</a:t>
            </a:r>
            <a:r>
              <a:rPr spc="-50"/>
              <a:t> </a:t>
            </a:r>
            <a:r>
              <a:rPr spc="100"/>
              <a:t>document</a:t>
            </a:r>
            <a:r>
              <a:rPr spc="-55"/>
              <a:t> </a:t>
            </a:r>
            <a:r>
              <a:rPr spc="200"/>
              <a:t>images</a:t>
            </a:r>
            <a:r>
              <a:rPr spc="-60"/>
              <a:t> </a:t>
            </a:r>
            <a:r>
              <a:rPr spc="80"/>
              <a:t>from</a:t>
            </a:r>
            <a:r>
              <a:rPr spc="-40"/>
              <a:t> </a:t>
            </a:r>
            <a:r>
              <a:rPr spc="0"/>
              <a:t>three</a:t>
            </a:r>
            <a:r>
              <a:rPr spc="-60"/>
              <a:t> </a:t>
            </a:r>
            <a:r>
              <a:rPr spc="65"/>
              <a:t>major </a:t>
            </a:r>
            <a:r>
              <a:rPr spc="125"/>
              <a:t>scanner</a:t>
            </a:r>
            <a:r>
              <a:rPr spc="-20"/>
              <a:t> </a:t>
            </a:r>
            <a:r>
              <a:rPr spc="100"/>
              <a:t>manufacturers:</a:t>
            </a:r>
            <a:r>
              <a:rPr spc="0"/>
              <a:t> </a:t>
            </a:r>
            <a:r>
              <a:rPr spc="50"/>
              <a:t>Canon,</a:t>
            </a:r>
            <a:r>
              <a:rPr spc="-20"/>
              <a:t> </a:t>
            </a:r>
            <a:r>
              <a:rPr spc="0"/>
              <a:t>HP,</a:t>
            </a:r>
            <a:r>
              <a:rPr spc="-40"/>
              <a:t> </a:t>
            </a:r>
            <a:r>
              <a:rPr spc="150"/>
              <a:t>and</a:t>
            </a:r>
            <a:r>
              <a:rPr spc="-30"/>
              <a:t> </a:t>
            </a:r>
            <a:r>
              <a:rPr spc="110"/>
              <a:t>Epson. </a:t>
            </a:r>
            <a:r>
              <a:rPr spc="175"/>
              <a:t>Each</a:t>
            </a:r>
            <a:r>
              <a:rPr spc="-75"/>
              <a:t> </a:t>
            </a:r>
            <a:r>
              <a:rPr spc="80"/>
              <a:t>brand</a:t>
            </a:r>
            <a:r>
              <a:rPr spc="-25"/>
              <a:t> </a:t>
            </a:r>
            <a:r>
              <a:rPr spc="65"/>
              <a:t>exhibits</a:t>
            </a:r>
            <a:r>
              <a:rPr spc="-70"/>
              <a:t> </a:t>
            </a:r>
            <a:r>
              <a:rPr spc="70"/>
              <a:t>distinctive</a:t>
            </a:r>
            <a:r>
              <a:rPr spc="-55"/>
              <a:t> </a:t>
            </a:r>
            <a:r>
              <a:rPr spc="160"/>
              <a:t>scanning </a:t>
            </a:r>
            <a:r>
              <a:rPr spc="95"/>
              <a:t>characteristics</a:t>
            </a:r>
            <a:r>
              <a:rPr spc="-35"/>
              <a:t> </a:t>
            </a:r>
            <a:r>
              <a:rPr spc="75"/>
              <a:t>that</a:t>
            </a:r>
            <a:r>
              <a:rPr spc="-75"/>
              <a:t> </a:t>
            </a:r>
            <a:r>
              <a:rPr spc="75"/>
              <a:t>serve</a:t>
            </a:r>
            <a:r>
              <a:rPr spc="-55"/>
              <a:t> </a:t>
            </a:r>
            <a:r>
              <a:rPr spc="270"/>
              <a:t>as</a:t>
            </a:r>
            <a:r>
              <a:rPr spc="-60"/>
              <a:t> </a:t>
            </a:r>
            <a:r>
              <a:rPr spc="85"/>
              <a:t>forensic</a:t>
            </a:r>
            <a:r>
              <a:rPr spc="-45"/>
              <a:t> </a:t>
            </a:r>
            <a:r>
              <a:rPr spc="60"/>
              <a:t>fingerprints.</a:t>
            </a:r>
          </a:p>
          <a:p>
            <a:pPr>
              <a:spcBef>
                <a:spcPts val="2600"/>
              </a:spcBef>
              <a:defRPr sz="2400">
                <a:latin typeface="Gill Sans MT"/>
                <a:ea typeface="Gill Sans MT"/>
                <a:cs typeface="Gill Sans MT"/>
                <a:sym typeface="Gill Sans MT"/>
              </a:defRPr>
            </a:pPr>
          </a:p>
          <a:p>
            <a:pPr marL="354965" indent="-342265">
              <a:buSzPct val="100000"/>
              <a:buChar char="•"/>
              <a:tabLst>
                <a:tab pos="342900" algn="l"/>
              </a:tabLst>
              <a:defRPr spc="79" sz="2000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1000+</a:t>
            </a:r>
            <a:r>
              <a:rPr spc="-79"/>
              <a:t> </a:t>
            </a:r>
            <a:r>
              <a:rPr spc="135"/>
              <a:t>scanned</a:t>
            </a:r>
            <a:r>
              <a:rPr spc="-65"/>
              <a:t> </a:t>
            </a:r>
            <a:r>
              <a:rPr spc="85"/>
              <a:t>document</a:t>
            </a:r>
            <a:r>
              <a:rPr spc="-75"/>
              <a:t> </a:t>
            </a:r>
            <a:r>
              <a:rPr spc="159"/>
              <a:t>images</a:t>
            </a:r>
          </a:p>
          <a:p>
            <a:pPr marL="354965" indent="-342265">
              <a:spcBef>
                <a:spcPts val="2200"/>
              </a:spcBef>
              <a:buSzPct val="100000"/>
              <a:buChar char="•"/>
              <a:tabLst>
                <a:tab pos="342900" algn="l"/>
              </a:tabLst>
              <a:defRPr spc="50" sz="2000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Multiple</a:t>
            </a:r>
            <a:r>
              <a:rPr spc="-90"/>
              <a:t> </a:t>
            </a:r>
            <a:r>
              <a:t>resolutions:</a:t>
            </a:r>
            <a:r>
              <a:rPr spc="-90"/>
              <a:t> </a:t>
            </a:r>
            <a:r>
              <a:rPr spc="110"/>
              <a:t>150</a:t>
            </a:r>
            <a:r>
              <a:rPr spc="-55"/>
              <a:t> </a:t>
            </a:r>
            <a:r>
              <a:rPr spc="0"/>
              <a:t>DPI</a:t>
            </a:r>
            <a:r>
              <a:rPr spc="-50"/>
              <a:t> </a:t>
            </a:r>
            <a:r>
              <a:rPr spc="135"/>
              <a:t>and</a:t>
            </a:r>
            <a:r>
              <a:rPr spc="-55"/>
              <a:t> </a:t>
            </a:r>
            <a:r>
              <a:rPr spc="110"/>
              <a:t>300</a:t>
            </a:r>
            <a:r>
              <a:rPr spc="-70"/>
              <a:t> </a:t>
            </a:r>
            <a:r>
              <a:rPr spc="-25"/>
              <a:t>DPI</a:t>
            </a:r>
          </a:p>
          <a:p>
            <a:pPr marL="354965" indent="-342265">
              <a:spcBef>
                <a:spcPts val="2100"/>
              </a:spcBef>
              <a:buSzPct val="100000"/>
              <a:buChar char="•"/>
              <a:tabLst>
                <a:tab pos="342900" algn="l"/>
              </a:tabLst>
              <a:defRPr sz="2000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High-</a:t>
            </a:r>
            <a:r>
              <a:rPr spc="70"/>
              <a:t>quality</a:t>
            </a:r>
            <a:r>
              <a:rPr spc="-55"/>
              <a:t> </a:t>
            </a:r>
            <a:r>
              <a:rPr spc="95"/>
              <a:t>TIFF</a:t>
            </a:r>
            <a:r>
              <a:rPr spc="-4"/>
              <a:t> </a:t>
            </a:r>
            <a:r>
              <a:rPr spc="79"/>
              <a:t>format</a:t>
            </a:r>
            <a:r>
              <a:rPr spc="4"/>
              <a:t> </a:t>
            </a:r>
            <a:r>
              <a:t>for</a:t>
            </a:r>
            <a:r>
              <a:rPr spc="4"/>
              <a:t> </a:t>
            </a:r>
            <a:r>
              <a:rPr spc="145"/>
              <a:t>maximum</a:t>
            </a:r>
            <a:r>
              <a:rPr spc="-15"/>
              <a:t> </a:t>
            </a:r>
            <a:r>
              <a:rPr spc="45"/>
              <a:t>detail</a:t>
            </a:r>
          </a:p>
          <a:p>
            <a:pPr marL="354965" indent="-342265">
              <a:spcBef>
                <a:spcPts val="1900"/>
              </a:spcBef>
              <a:buSzPct val="100000"/>
              <a:buChar char="•"/>
              <a:tabLst>
                <a:tab pos="342900" algn="l"/>
              </a:tabLst>
              <a:defRPr sz="2000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Carefully</a:t>
            </a:r>
            <a:r>
              <a:rPr spc="35"/>
              <a:t> </a:t>
            </a:r>
            <a:r>
              <a:rPr spc="79"/>
              <a:t>labeled</a:t>
            </a:r>
            <a:r>
              <a:rPr spc="39"/>
              <a:t> </a:t>
            </a:r>
            <a:r>
              <a:rPr spc="110"/>
              <a:t>dataset</a:t>
            </a:r>
            <a:r>
              <a:t> with</a:t>
            </a:r>
            <a:r>
              <a:rPr spc="30"/>
              <a:t> </a:t>
            </a:r>
            <a:r>
              <a:rPr spc="75"/>
              <a:t>brand</a:t>
            </a:r>
            <a:r>
              <a:rPr spc="45"/>
              <a:t> </a:t>
            </a:r>
            <a:r>
              <a:rPr spc="75"/>
              <a:t>annotations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1862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re-processing Pipelin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indent="76200">
              <a:defRPr spc="200" sz="4300"/>
            </a:pPr>
            <a:r>
              <a:rPr spc="0"/>
              <a:t>Pre-processing</a:t>
            </a:r>
            <a:r>
              <a:rPr spc="-200"/>
              <a:t> </a:t>
            </a:r>
            <a:r>
              <a:rPr spc="-100"/>
              <a:t>Pipeline</a:t>
            </a:r>
          </a:p>
        </p:txBody>
      </p:sp>
      <p:sp>
        <p:nvSpPr>
          <p:cNvPr id="79" name="object 6"/>
          <p:cNvSpPr txBox="1"/>
          <p:nvPr/>
        </p:nvSpPr>
        <p:spPr>
          <a:xfrm>
            <a:off x="812114" y="1502920"/>
            <a:ext cx="13118465" cy="1917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200"/>
              </a:spcBef>
              <a:tabLst>
                <a:tab pos="4229100" algn="l"/>
                <a:tab pos="4445000" algn="l"/>
                <a:tab pos="8661400" algn="l"/>
                <a:tab pos="8877300" algn="l"/>
                <a:tab pos="13093700" algn="l"/>
              </a:tabLst>
              <a:defRPr spc="-340" sz="1700" u="sng">
                <a:solidFill>
                  <a:srgbClr val="E4DFDF"/>
                </a:solidFill>
                <a:uFill>
                  <a:solidFill>
                    <a:srgbClr val="F1F1F3"/>
                  </a:solidFill>
                </a:u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01</a:t>
            </a:r>
            <a:r>
              <a:rPr spc="0"/>
              <a:t>	</a:t>
            </a:r>
            <a:r>
              <a:rPr spc="0" u="none">
                <a:uFillTx/>
              </a:rPr>
              <a:t>	</a:t>
            </a:r>
            <a:r>
              <a:rPr spc="-25"/>
              <a:t>02</a:t>
            </a:r>
            <a:r>
              <a:rPr spc="0"/>
              <a:t>	</a:t>
            </a:r>
            <a:r>
              <a:rPr spc="0" u="none">
                <a:uFillTx/>
              </a:rPr>
              <a:t>	</a:t>
            </a:r>
            <a:r>
              <a:rPr spc="-25"/>
              <a:t>03</a:t>
            </a:r>
            <a:r>
              <a:rPr spc="0"/>
              <a:t>	</a:t>
            </a:r>
          </a:p>
          <a:p>
            <a:pPr indent="12700">
              <a:spcBef>
                <a:spcPts val="1400"/>
              </a:spcBef>
              <a:tabLst>
                <a:tab pos="4445000" algn="l"/>
                <a:tab pos="8877300" algn="l"/>
              </a:tabLst>
              <a:defRPr spc="85" sz="2100">
                <a:solidFill>
                  <a:srgbClr val="E4DFD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Grayscale</a:t>
            </a:r>
            <a:r>
              <a:rPr spc="-55"/>
              <a:t> </a:t>
            </a:r>
            <a:r>
              <a:rPr spc="-10"/>
              <a:t>Conversion</a:t>
            </a:r>
            <a:r>
              <a:rPr spc="0"/>
              <a:t>	</a:t>
            </a:r>
            <a:r>
              <a:rPr spc="104"/>
              <a:t>Image</a:t>
            </a:r>
            <a:r>
              <a:rPr spc="-85"/>
              <a:t> </a:t>
            </a:r>
            <a:r>
              <a:rPr spc="-10"/>
              <a:t>Resizing</a:t>
            </a:r>
            <a:r>
              <a:rPr spc="0"/>
              <a:t>	</a:t>
            </a:r>
            <a:r>
              <a:rPr spc="-95"/>
              <a:t>Pixel</a:t>
            </a:r>
            <a:r>
              <a:rPr spc="-69"/>
              <a:t> </a:t>
            </a:r>
            <a:r>
              <a:rPr spc="-10"/>
              <a:t>Normalisation</a:t>
            </a:r>
          </a:p>
          <a:p>
            <a:pPr marR="185420" indent="12700">
              <a:lnSpc>
                <a:spcPct val="137400"/>
              </a:lnSpc>
              <a:spcBef>
                <a:spcPts val="900"/>
              </a:spcBef>
              <a:tabLst>
                <a:tab pos="4445000" algn="l"/>
                <a:tab pos="8877300" algn="l"/>
              </a:tabLst>
              <a:defRPr sz="1700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Converted</a:t>
            </a:r>
            <a:r>
              <a:rPr spc="-34"/>
              <a:t> </a:t>
            </a:r>
            <a:r>
              <a:t>colour</a:t>
            </a:r>
            <a:r>
              <a:rPr spc="-40"/>
              <a:t> </a:t>
            </a:r>
            <a:r>
              <a:rPr spc="145"/>
              <a:t>images</a:t>
            </a:r>
            <a:r>
              <a:rPr spc="-25"/>
              <a:t> </a:t>
            </a:r>
            <a:r>
              <a:t>to</a:t>
            </a:r>
            <a:r>
              <a:rPr spc="-15"/>
              <a:t> </a:t>
            </a:r>
            <a:r>
              <a:rPr spc="100"/>
              <a:t>grayscale</a:t>
            </a:r>
            <a:r>
              <a:rPr spc="-34"/>
              <a:t> </a:t>
            </a:r>
            <a:r>
              <a:rPr spc="-25"/>
              <a:t>to</a:t>
            </a:r>
            <a:r>
              <a:t>	</a:t>
            </a:r>
            <a:r>
              <a:rPr spc="80"/>
              <a:t>Standardised</a:t>
            </a:r>
            <a:r>
              <a:rPr spc="-40"/>
              <a:t> </a:t>
            </a:r>
            <a:r>
              <a:rPr spc="60"/>
              <a:t>all</a:t>
            </a:r>
            <a:r>
              <a:rPr spc="-45"/>
              <a:t> </a:t>
            </a:r>
            <a:r>
              <a:rPr spc="139"/>
              <a:t>images</a:t>
            </a:r>
            <a:r>
              <a:rPr spc="-50"/>
              <a:t> </a:t>
            </a:r>
            <a:r>
              <a:t>to</a:t>
            </a:r>
            <a:r>
              <a:rPr spc="-60"/>
              <a:t> </a:t>
            </a:r>
            <a:r>
              <a:rPr spc="185"/>
              <a:t>a</a:t>
            </a:r>
            <a:r>
              <a:rPr spc="-45"/>
              <a:t> </a:t>
            </a:r>
            <a:r>
              <a:rPr spc="40"/>
              <a:t>fixed</a:t>
            </a:r>
            <a:r>
              <a:t>	</a:t>
            </a:r>
            <a:r>
              <a:rPr spc="110"/>
              <a:t>Scaled</a:t>
            </a:r>
            <a:r>
              <a:rPr spc="-20"/>
              <a:t> </a:t>
            </a:r>
            <a:r>
              <a:t>pixel</a:t>
            </a:r>
            <a:r>
              <a:rPr spc="-34"/>
              <a:t> </a:t>
            </a:r>
            <a:r>
              <a:rPr spc="100"/>
              <a:t>values</a:t>
            </a:r>
            <a:r>
              <a:rPr spc="-25"/>
              <a:t> </a:t>
            </a:r>
            <a:r>
              <a:t>to</a:t>
            </a:r>
            <a:r>
              <a:rPr spc="-30"/>
              <a:t> </a:t>
            </a:r>
            <a:r>
              <a:rPr spc="185"/>
              <a:t>a</a:t>
            </a:r>
            <a:r>
              <a:rPr spc="-30"/>
              <a:t> </a:t>
            </a:r>
            <a:r>
              <a:rPr spc="85"/>
              <a:t>standard</a:t>
            </a:r>
            <a:r>
              <a:rPr spc="-20"/>
              <a:t> </a:t>
            </a:r>
            <a:r>
              <a:rPr spc="50"/>
              <a:t>range, </a:t>
            </a:r>
            <a:r>
              <a:rPr spc="114"/>
              <a:t>focus</a:t>
            </a:r>
            <a:r>
              <a:rPr spc="-60"/>
              <a:t> </a:t>
            </a:r>
            <a:r>
              <a:t>on</a:t>
            </a:r>
            <a:r>
              <a:rPr spc="-34"/>
              <a:t> </a:t>
            </a:r>
            <a:r>
              <a:t>texture</a:t>
            </a:r>
            <a:r>
              <a:rPr spc="-50"/>
              <a:t> </a:t>
            </a:r>
            <a:r>
              <a:rPr spc="110"/>
              <a:t>and</a:t>
            </a:r>
            <a:r>
              <a:rPr spc="-45"/>
              <a:t> </a:t>
            </a:r>
            <a:r>
              <a:rPr spc="65"/>
              <a:t>noise</a:t>
            </a:r>
            <a:r>
              <a:rPr spc="-50"/>
              <a:t> </a:t>
            </a:r>
            <a:r>
              <a:rPr spc="60"/>
              <a:t>patterns</a:t>
            </a:r>
            <a:r>
              <a:rPr spc="-65"/>
              <a:t>   </a:t>
            </a:r>
            <a:r>
              <a:rPr spc="-10"/>
              <a:t>rather</a:t>
            </a:r>
            <a:r>
              <a:t>	</a:t>
            </a:r>
            <a:r>
              <a:rPr spc="80"/>
              <a:t>dimension</a:t>
            </a:r>
            <a:r>
              <a:rPr spc="-55"/>
              <a:t> </a:t>
            </a:r>
            <a:r>
              <a:t>to</a:t>
            </a:r>
            <a:r>
              <a:rPr spc="-50"/>
              <a:t> </a:t>
            </a:r>
            <a:r>
              <a:rPr spc="65"/>
              <a:t>ensure</a:t>
            </a:r>
            <a:r>
              <a:rPr spc="-60"/>
              <a:t> </a:t>
            </a:r>
            <a:r>
              <a:rPr spc="75"/>
              <a:t>consistent</a:t>
            </a:r>
            <a:r>
              <a:rPr spc="-60"/>
              <a:t> </a:t>
            </a:r>
            <a:r>
              <a:rPr spc="50"/>
              <a:t>input</a:t>
            </a:r>
            <a:r>
              <a:rPr spc="-50"/>
              <a:t> </a:t>
            </a:r>
            <a:r>
              <a:rPr spc="-25"/>
              <a:t>for</a:t>
            </a:r>
            <a:r>
              <a:t>	</a:t>
            </a:r>
            <a:r>
              <a:rPr spc="60"/>
              <a:t>improving</a:t>
            </a:r>
            <a:r>
              <a:rPr spc="-65"/>
              <a:t> </a:t>
            </a:r>
            <a:r>
              <a:rPr spc="69"/>
              <a:t>model</a:t>
            </a:r>
            <a:r>
              <a:rPr spc="-55"/>
              <a:t> </a:t>
            </a:r>
            <a:r>
              <a:rPr spc="65"/>
              <a:t>convergence</a:t>
            </a:r>
            <a:r>
              <a:rPr spc="-69"/>
              <a:t> </a:t>
            </a:r>
            <a:r>
              <a:rPr spc="110"/>
              <a:t>and</a:t>
            </a:r>
            <a:r>
              <a:rPr spc="-45"/>
              <a:t> </a:t>
            </a:r>
            <a:r>
              <a:rPr spc="45"/>
              <a:t>training  </a:t>
            </a:r>
            <a:r>
              <a:rPr spc="80"/>
              <a:t>than</a:t>
            </a:r>
            <a:r>
              <a:rPr spc="-40"/>
              <a:t> </a:t>
            </a:r>
            <a:r>
              <a:t>colour</a:t>
            </a:r>
            <a:r>
              <a:rPr spc="-50"/>
              <a:t> </a:t>
            </a:r>
            <a:r>
              <a:rPr spc="55"/>
              <a:t>variations</a:t>
            </a:r>
            <a:r>
              <a:t>	</a:t>
            </a:r>
            <a:r>
              <a:rPr spc="69"/>
              <a:t>model</a:t>
            </a:r>
            <a:r>
              <a:rPr spc="-65"/>
              <a:t> </a:t>
            </a:r>
            <a:r>
              <a:rPr spc="40"/>
              <a:t>training and </a:t>
            </a:r>
            <a:r>
              <a:rPr spc="45"/>
              <a:t>stability</a:t>
            </a:r>
          </a:p>
        </p:txBody>
      </p:sp>
      <p:sp>
        <p:nvSpPr>
          <p:cNvPr id="80" name="object 7"/>
          <p:cNvSpPr txBox="1"/>
          <p:nvPr/>
        </p:nvSpPr>
        <p:spPr>
          <a:xfrm>
            <a:off x="756309" y="3972754"/>
            <a:ext cx="6461762" cy="1567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200"/>
              </a:spcBef>
              <a:tabLst>
                <a:tab pos="6438900" algn="l"/>
              </a:tabLst>
              <a:defRPr spc="-25" sz="1700" u="sng">
                <a:solidFill>
                  <a:srgbClr val="E4DFDF"/>
                </a:solidFill>
                <a:uFill>
                  <a:solidFill>
                    <a:srgbClr val="F1F1F3"/>
                  </a:solidFill>
                </a:u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04</a:t>
            </a:r>
            <a:r>
              <a:rPr spc="0"/>
              <a:t>	</a:t>
            </a:r>
          </a:p>
          <a:p>
            <a:pPr indent="12700">
              <a:spcBef>
                <a:spcPts val="1400"/>
              </a:spcBef>
              <a:defRPr spc="-150" sz="2100">
                <a:solidFill>
                  <a:srgbClr val="E4DFD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TIFF</a:t>
            </a:r>
            <a:r>
              <a:rPr spc="-69"/>
              <a:t> </a:t>
            </a:r>
            <a:r>
              <a:rPr spc="-10"/>
              <a:t>Handling</a:t>
            </a:r>
          </a:p>
          <a:p>
            <a:pPr marR="39369" indent="12700">
              <a:lnSpc>
                <a:spcPct val="137200"/>
              </a:lnSpc>
              <a:spcBef>
                <a:spcPts val="900"/>
              </a:spcBef>
              <a:defRPr spc="75" sz="1700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Implemented</a:t>
            </a:r>
            <a:r>
              <a:rPr spc="-10"/>
              <a:t> </a:t>
            </a:r>
            <a:r>
              <a:rPr spc="80"/>
              <a:t>specialised</a:t>
            </a:r>
            <a:r>
              <a:rPr spc="10"/>
              <a:t> </a:t>
            </a:r>
            <a:r>
              <a:rPr spc="85"/>
              <a:t>processing</a:t>
            </a:r>
            <a:r>
              <a:rPr spc="-10"/>
              <a:t> </a:t>
            </a:r>
            <a:r>
              <a:rPr spc="0"/>
              <a:t>for </a:t>
            </a:r>
            <a:r>
              <a:rPr spc="60"/>
              <a:t>high-</a:t>
            </a:r>
            <a:r>
              <a:rPr spc="0"/>
              <a:t>resolution</a:t>
            </a:r>
            <a:r>
              <a:rPr spc="15"/>
              <a:t> </a:t>
            </a:r>
            <a:r>
              <a:rPr spc="80"/>
              <a:t>TIFF</a:t>
            </a:r>
            <a:r>
              <a:rPr spc="-5"/>
              <a:t> </a:t>
            </a:r>
            <a:r>
              <a:rPr spc="80"/>
              <a:t>files</a:t>
            </a:r>
            <a:r>
              <a:rPr spc="15"/>
              <a:t> </a:t>
            </a:r>
            <a:r>
              <a:rPr spc="-25"/>
              <a:t>to </a:t>
            </a:r>
            <a:r>
              <a:rPr spc="0"/>
              <a:t>preserve</a:t>
            </a:r>
            <a:r>
              <a:rPr spc="85"/>
              <a:t> </a:t>
            </a:r>
            <a:r>
              <a:rPr spc="65"/>
              <a:t>forensic</a:t>
            </a:r>
            <a:r>
              <a:rPr spc="100"/>
              <a:t> </a:t>
            </a:r>
            <a:r>
              <a:rPr spc="60"/>
              <a:t>details</a:t>
            </a:r>
          </a:p>
        </p:txBody>
      </p:sp>
      <p:sp>
        <p:nvSpPr>
          <p:cNvPr id="81" name="object 8"/>
          <p:cNvSpPr txBox="1"/>
          <p:nvPr/>
        </p:nvSpPr>
        <p:spPr>
          <a:xfrm>
            <a:off x="7412863" y="3972754"/>
            <a:ext cx="6461761" cy="1567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200"/>
              </a:spcBef>
              <a:tabLst>
                <a:tab pos="6438900" algn="l"/>
              </a:tabLst>
              <a:defRPr spc="-25" sz="1700" u="sng">
                <a:solidFill>
                  <a:srgbClr val="E4DFDF"/>
                </a:solidFill>
                <a:uFill>
                  <a:solidFill>
                    <a:srgbClr val="F1F1F3"/>
                  </a:solidFill>
                </a:u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05</a:t>
            </a:r>
            <a:r>
              <a:rPr spc="0"/>
              <a:t>	</a:t>
            </a:r>
          </a:p>
          <a:p>
            <a:pPr indent="12700">
              <a:spcBef>
                <a:spcPts val="1400"/>
              </a:spcBef>
              <a:defRPr sz="2100">
                <a:solidFill>
                  <a:srgbClr val="E4DFD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Quality</a:t>
            </a:r>
            <a:r>
              <a:rPr spc="-95"/>
              <a:t> </a:t>
            </a:r>
            <a:r>
              <a:rPr spc="-10"/>
              <a:t>Assurance</a:t>
            </a:r>
          </a:p>
          <a:p>
            <a:pPr marR="673734" indent="12700">
              <a:lnSpc>
                <a:spcPct val="137200"/>
              </a:lnSpc>
              <a:spcBef>
                <a:spcPts val="900"/>
              </a:spcBef>
              <a:defRPr spc="65" sz="1700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Validated</a:t>
            </a:r>
            <a:r>
              <a:rPr spc="-20"/>
              <a:t> </a:t>
            </a:r>
            <a:r>
              <a:rPr spc="69"/>
              <a:t>preprocessing</a:t>
            </a:r>
            <a:r>
              <a:rPr spc="-60"/>
              <a:t> </a:t>
            </a:r>
            <a:r>
              <a:rPr spc="85"/>
              <a:t>consistency</a:t>
            </a:r>
            <a:r>
              <a:rPr spc="-40"/>
              <a:t> </a:t>
            </a:r>
            <a:r>
              <a:rPr spc="104"/>
              <a:t>across</a:t>
            </a:r>
            <a:r>
              <a:rPr spc="-25"/>
              <a:t> </a:t>
            </a:r>
            <a:r>
              <a:rPr spc="0"/>
              <a:t>entire</a:t>
            </a:r>
            <a:r>
              <a:rPr spc="-45"/>
              <a:t> </a:t>
            </a:r>
            <a:r>
              <a:rPr spc="100"/>
              <a:t>dataset</a:t>
            </a:r>
            <a:r>
              <a:rPr spc="-25"/>
              <a:t> to </a:t>
            </a:r>
            <a:r>
              <a:t>eliminate</a:t>
            </a:r>
            <a:r>
              <a:rPr spc="-50"/>
              <a:t> </a:t>
            </a:r>
            <a:r>
              <a:rPr spc="50"/>
              <a:t>pipeline</a:t>
            </a:r>
            <a:r>
              <a:rPr spc="-55"/>
              <a:t> </a:t>
            </a:r>
            <a:r>
              <a:rPr spc="-10"/>
              <a:t>variability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1862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Feature Extraction &amp; Classical Machine Learning"/>
          <p:cNvSpPr txBox="1"/>
          <p:nvPr>
            <p:ph type="title"/>
          </p:nvPr>
        </p:nvSpPr>
        <p:spPr>
          <a:xfrm>
            <a:off x="1390269" y="149731"/>
            <a:ext cx="8410576" cy="452121"/>
          </a:xfrm>
          <a:prstGeom prst="rect">
            <a:avLst/>
          </a:prstGeom>
        </p:spPr>
        <p:txBody>
          <a:bodyPr/>
          <a:lstStyle/>
          <a:p>
            <a:pPr indent="12573" defTabSz="905255">
              <a:defRPr sz="2772"/>
            </a:pPr>
            <a:r>
              <a:t>Feature</a:t>
            </a:r>
            <a:r>
              <a:rPr spc="-198"/>
              <a:t> </a:t>
            </a:r>
            <a:r>
              <a:rPr spc="-99"/>
              <a:t>Extraction</a:t>
            </a:r>
            <a:r>
              <a:rPr spc="-198"/>
              <a:t> </a:t>
            </a:r>
            <a:r>
              <a:t>&amp;</a:t>
            </a:r>
            <a:r>
              <a:rPr spc="-198"/>
              <a:t> </a:t>
            </a:r>
            <a:r>
              <a:t>Classical</a:t>
            </a:r>
            <a:r>
              <a:rPr spc="-198"/>
              <a:t> </a:t>
            </a:r>
            <a:r>
              <a:t>Machine</a:t>
            </a:r>
            <a:r>
              <a:rPr spc="-99"/>
              <a:t> Learning</a:t>
            </a:r>
          </a:p>
        </p:txBody>
      </p:sp>
      <p:pic>
        <p:nvPicPr>
          <p:cNvPr id="84" name="object 2" descr="object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256135" y="4051402"/>
            <a:ext cx="3459354" cy="3240787"/>
          </a:xfrm>
          <a:prstGeom prst="rect">
            <a:avLst/>
          </a:prstGeom>
          <a:ln w="12700">
            <a:miter lim="400000"/>
          </a:ln>
        </p:spPr>
      </p:pic>
      <p:sp>
        <p:nvSpPr>
          <p:cNvPr id="85" name="object 7"/>
          <p:cNvSpPr txBox="1"/>
          <p:nvPr/>
        </p:nvSpPr>
        <p:spPr>
          <a:xfrm>
            <a:off x="1390269" y="1065275"/>
            <a:ext cx="4556126" cy="4187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z="2500">
                <a:solidFill>
                  <a:srgbClr val="F1F1F3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Local</a:t>
            </a:r>
            <a:r>
              <a:rPr spc="90"/>
              <a:t> </a:t>
            </a:r>
            <a:r>
              <a:t>Binary</a:t>
            </a:r>
            <a:r>
              <a:rPr spc="70"/>
              <a:t> </a:t>
            </a:r>
            <a:r>
              <a:t>Pattern</a:t>
            </a:r>
            <a:r>
              <a:rPr spc="104"/>
              <a:t> </a:t>
            </a:r>
            <a:r>
              <a:rPr spc="-10"/>
              <a:t>Features</a:t>
            </a:r>
          </a:p>
        </p:txBody>
      </p:sp>
      <p:sp>
        <p:nvSpPr>
          <p:cNvPr id="86" name="object 8"/>
          <p:cNvSpPr txBox="1"/>
          <p:nvPr/>
        </p:nvSpPr>
        <p:spPr>
          <a:xfrm>
            <a:off x="1419605" y="1855597"/>
            <a:ext cx="7732394" cy="16483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2700">
              <a:lnSpc>
                <a:spcPct val="99800"/>
              </a:lnSpc>
              <a:spcBef>
                <a:spcPts val="100"/>
              </a:spcBef>
              <a:defRPr spc="-125" sz="2200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We</a:t>
            </a:r>
            <a:r>
              <a:rPr spc="35"/>
              <a:t> </a:t>
            </a:r>
            <a:r>
              <a:rPr spc="0"/>
              <a:t>extracted</a:t>
            </a:r>
            <a:r>
              <a:rPr spc="50"/>
              <a:t> </a:t>
            </a:r>
            <a:r>
              <a:rPr spc="100"/>
              <a:t>Local</a:t>
            </a:r>
            <a:r>
              <a:rPr spc="39"/>
              <a:t> </a:t>
            </a:r>
            <a:r>
              <a:rPr spc="65"/>
              <a:t>Binary</a:t>
            </a:r>
            <a:r>
              <a:rPr spc="50"/>
              <a:t> </a:t>
            </a:r>
            <a:r>
              <a:rPr spc="55"/>
              <a:t>Pattern</a:t>
            </a:r>
            <a:r>
              <a:rPr spc="25"/>
              <a:t> </a:t>
            </a:r>
            <a:r>
              <a:rPr spc="70"/>
              <a:t>(LBP)</a:t>
            </a:r>
            <a:r>
              <a:rPr spc="30"/>
              <a:t> </a:t>
            </a:r>
            <a:r>
              <a:rPr spc="0"/>
              <a:t>features—</a:t>
            </a:r>
            <a:r>
              <a:rPr spc="229"/>
              <a:t>a</a:t>
            </a:r>
            <a:r>
              <a:rPr spc="19"/>
              <a:t> </a:t>
            </a:r>
            <a:r>
              <a:rPr spc="39"/>
              <a:t>powerful </a:t>
            </a:r>
            <a:r>
              <a:rPr spc="0"/>
              <a:t>texture</a:t>
            </a:r>
            <a:r>
              <a:rPr spc="25"/>
              <a:t> </a:t>
            </a:r>
            <a:r>
              <a:rPr spc="0"/>
              <a:t>descriptor</a:t>
            </a:r>
            <a:r>
              <a:rPr spc="35"/>
              <a:t> </a:t>
            </a:r>
            <a:r>
              <a:rPr spc="65"/>
              <a:t>that</a:t>
            </a:r>
            <a:r>
              <a:rPr spc="25"/>
              <a:t> </a:t>
            </a:r>
            <a:r>
              <a:rPr spc="95"/>
              <a:t>captures</a:t>
            </a:r>
            <a:r>
              <a:rPr spc="19"/>
              <a:t> </a:t>
            </a:r>
            <a:r>
              <a:rPr spc="50"/>
              <a:t>the</a:t>
            </a:r>
            <a:r>
              <a:rPr spc="25"/>
              <a:t> </a:t>
            </a:r>
            <a:r>
              <a:rPr spc="0"/>
              <a:t>micro-</a:t>
            </a:r>
            <a:r>
              <a:rPr spc="70"/>
              <a:t>patterns</a:t>
            </a:r>
            <a:r>
              <a:rPr spc="39"/>
              <a:t> </a:t>
            </a:r>
            <a:r>
              <a:rPr spc="135"/>
              <a:t>and</a:t>
            </a:r>
            <a:r>
              <a:rPr spc="25"/>
              <a:t> </a:t>
            </a:r>
            <a:r>
              <a:rPr spc="75"/>
              <a:t>noise </a:t>
            </a:r>
            <a:r>
              <a:rPr spc="85"/>
              <a:t>characteristics</a:t>
            </a:r>
            <a:r>
              <a:rPr spc="-45"/>
              <a:t> </a:t>
            </a:r>
            <a:r>
              <a:rPr spc="79"/>
              <a:t>unique</a:t>
            </a:r>
            <a:r>
              <a:rPr spc="-45"/>
              <a:t> </a:t>
            </a:r>
            <a:r>
              <a:rPr spc="0"/>
              <a:t>to</a:t>
            </a:r>
            <a:r>
              <a:rPr spc="-60"/>
              <a:t> </a:t>
            </a:r>
            <a:r>
              <a:rPr spc="135"/>
              <a:t>each</a:t>
            </a:r>
            <a:r>
              <a:rPr spc="-60"/>
              <a:t> </a:t>
            </a:r>
            <a:r>
              <a:rPr spc="100"/>
              <a:t>scanner.</a:t>
            </a:r>
            <a:r>
              <a:rPr spc="-60"/>
              <a:t> </a:t>
            </a:r>
            <a:r>
              <a:rPr spc="135"/>
              <a:t>LBP</a:t>
            </a:r>
            <a:r>
              <a:rPr spc="-75"/>
              <a:t> </a:t>
            </a:r>
            <a:r>
              <a:rPr spc="90"/>
              <a:t>excels</a:t>
            </a:r>
            <a:r>
              <a:rPr spc="-45"/>
              <a:t> </a:t>
            </a:r>
            <a:r>
              <a:rPr spc="100"/>
              <a:t>at</a:t>
            </a:r>
            <a:r>
              <a:rPr spc="-55"/>
              <a:t> </a:t>
            </a:r>
            <a:r>
              <a:rPr spc="65"/>
              <a:t>detecting </a:t>
            </a:r>
            <a:r>
              <a:rPr spc="79"/>
              <a:t>subtle</a:t>
            </a:r>
            <a:r>
              <a:rPr spc="-35"/>
              <a:t> </a:t>
            </a:r>
            <a:r>
              <a:rPr spc="75"/>
              <a:t>variations</a:t>
            </a:r>
            <a:r>
              <a:rPr spc="0"/>
              <a:t> </a:t>
            </a:r>
            <a:r>
              <a:rPr spc="55"/>
              <a:t>in</a:t>
            </a:r>
            <a:r>
              <a:rPr spc="-30"/>
              <a:t> </a:t>
            </a:r>
            <a:r>
              <a:rPr spc="0"/>
              <a:t>pixel</a:t>
            </a:r>
            <a:r>
              <a:rPr spc="-9"/>
              <a:t> </a:t>
            </a:r>
            <a:r>
              <a:rPr spc="75"/>
              <a:t>neighborhoods</a:t>
            </a:r>
            <a:r>
              <a:rPr spc="-19"/>
              <a:t> </a:t>
            </a:r>
            <a:r>
              <a:rPr spc="65"/>
              <a:t>that</a:t>
            </a:r>
            <a:r>
              <a:rPr spc="-30"/>
              <a:t> </a:t>
            </a:r>
            <a:r>
              <a:rPr spc="90"/>
              <a:t>distinguish </a:t>
            </a:r>
            <a:r>
              <a:rPr spc="110"/>
              <a:t>scanner</a:t>
            </a:r>
            <a:r>
              <a:rPr spc="-50"/>
              <a:t> </a:t>
            </a:r>
            <a:r>
              <a:rPr spc="95"/>
              <a:t>signatures.</a:t>
            </a:r>
          </a:p>
        </p:txBody>
      </p:sp>
      <p:sp>
        <p:nvSpPr>
          <p:cNvPr id="87" name="object 9"/>
          <p:cNvSpPr txBox="1"/>
          <p:nvPr/>
        </p:nvSpPr>
        <p:spPr>
          <a:xfrm>
            <a:off x="1419605" y="4405248"/>
            <a:ext cx="3117215" cy="2476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>
                <a:solidFill>
                  <a:srgbClr val="F1F1F3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Classical</a:t>
            </a:r>
            <a:r>
              <a:rPr spc="55"/>
              <a:t> </a:t>
            </a:r>
            <a:r>
              <a:rPr spc="-135"/>
              <a:t>ML</a:t>
            </a:r>
            <a:r>
              <a:rPr spc="55"/>
              <a:t> </a:t>
            </a:r>
            <a:r>
              <a:t>Models</a:t>
            </a:r>
            <a:r>
              <a:rPr spc="60"/>
              <a:t> </a:t>
            </a:r>
            <a:r>
              <a:rPr spc="-10"/>
              <a:t>Tested</a:t>
            </a:r>
          </a:p>
          <a:p>
            <a:pPr>
              <a:spcBef>
                <a:spcPts val="500"/>
              </a:spcBef>
              <a:defRPr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</a:p>
          <a:p>
            <a:pPr marL="354965" indent="-342265">
              <a:buSzPct val="100000"/>
              <a:buChar char="•"/>
              <a:tabLst>
                <a:tab pos="342900" algn="l"/>
              </a:tabLst>
              <a:defRPr sz="1600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Support</a:t>
            </a:r>
            <a:r>
              <a:rPr spc="75"/>
              <a:t> </a:t>
            </a:r>
            <a:r>
              <a:t>Vector</a:t>
            </a:r>
            <a:r>
              <a:rPr spc="60"/>
              <a:t> </a:t>
            </a:r>
            <a:r>
              <a:rPr spc="85"/>
              <a:t>Machine</a:t>
            </a:r>
            <a:r>
              <a:rPr spc="95"/>
              <a:t> </a:t>
            </a:r>
            <a:r>
              <a:rPr spc="50"/>
              <a:t>(SVM)</a:t>
            </a:r>
          </a:p>
          <a:p>
            <a:pPr marL="354965" indent="-342265">
              <a:spcBef>
                <a:spcPts val="1800"/>
              </a:spcBef>
              <a:buSzPct val="100000"/>
              <a:buChar char="•"/>
              <a:tabLst>
                <a:tab pos="342900" algn="l"/>
              </a:tabLst>
              <a:defRPr spc="85" sz="1600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Random</a:t>
            </a:r>
            <a:r>
              <a:rPr spc="95"/>
              <a:t> </a:t>
            </a:r>
            <a:r>
              <a:rPr spc="0"/>
              <a:t>Forest</a:t>
            </a:r>
            <a:r>
              <a:rPr spc="80"/>
              <a:t> </a:t>
            </a:r>
            <a:r>
              <a:rPr spc="40"/>
              <a:t>Classifier</a:t>
            </a:r>
          </a:p>
          <a:p>
            <a:pPr marL="354965" indent="-342265">
              <a:spcBef>
                <a:spcPts val="1300"/>
              </a:spcBef>
              <a:buSzPct val="100000"/>
              <a:buChar char="•"/>
              <a:tabLst>
                <a:tab pos="342900" algn="l"/>
              </a:tabLst>
              <a:defRPr spc="-60" sz="1600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K-</a:t>
            </a:r>
            <a:r>
              <a:rPr spc="0"/>
              <a:t>Nearest</a:t>
            </a:r>
            <a:r>
              <a:rPr spc="285"/>
              <a:t> </a:t>
            </a:r>
            <a:r>
              <a:rPr spc="0"/>
              <a:t>Neighbors</a:t>
            </a:r>
            <a:r>
              <a:rPr spc="234"/>
              <a:t> </a:t>
            </a:r>
            <a:r>
              <a:rPr spc="-20"/>
              <a:t>(KNN)</a:t>
            </a:r>
          </a:p>
          <a:p>
            <a:pPr marL="354965" indent="-342265">
              <a:spcBef>
                <a:spcPts val="1400"/>
              </a:spcBef>
              <a:buSzPct val="100000"/>
              <a:buChar char="•"/>
              <a:tabLst>
                <a:tab pos="342900" algn="l"/>
              </a:tabLst>
              <a:defRPr spc="65" sz="1600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Logistic</a:t>
            </a:r>
            <a:r>
              <a:rPr spc="-20"/>
              <a:t> </a:t>
            </a:r>
            <a:r>
              <a:rPr spc="60"/>
              <a:t>Regression</a:t>
            </a:r>
          </a:p>
        </p:txBody>
      </p:sp>
      <p:sp>
        <p:nvSpPr>
          <p:cNvPr id="88" name="object 10"/>
          <p:cNvSpPr txBox="1"/>
          <p:nvPr/>
        </p:nvSpPr>
        <p:spPr>
          <a:xfrm>
            <a:off x="10681206" y="1733040"/>
            <a:ext cx="561976" cy="750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25" sz="2200">
                <a:solidFill>
                  <a:srgbClr val="E4DFD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lvl1pPr>
          </a:lstStyle>
          <a:p>
            <a:pPr/>
            <a:r>
              <a:t>92%</a:t>
            </a:r>
          </a:p>
        </p:txBody>
      </p:sp>
      <p:pic>
        <p:nvPicPr>
          <p:cNvPr id="89" name="object 11" descr="object 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724008" y="708659"/>
            <a:ext cx="2397380" cy="2397380"/>
          </a:xfrm>
          <a:prstGeom prst="rect">
            <a:avLst/>
          </a:prstGeom>
          <a:ln w="12700">
            <a:miter lim="400000"/>
          </a:ln>
        </p:spPr>
      </p:pic>
      <p:sp>
        <p:nvSpPr>
          <p:cNvPr id="90" name="object 12"/>
          <p:cNvSpPr txBox="1"/>
          <p:nvPr/>
        </p:nvSpPr>
        <p:spPr>
          <a:xfrm>
            <a:off x="9294114" y="3210420"/>
            <a:ext cx="3358516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200"/>
              </a:spcBef>
              <a:defRPr sz="1400">
                <a:solidFill>
                  <a:srgbClr val="E4DFD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SVM</a:t>
            </a:r>
            <a:r>
              <a:rPr spc="-45"/>
              <a:t> </a:t>
            </a:r>
            <a:r>
              <a:rPr spc="50"/>
              <a:t>Accuracy</a:t>
            </a:r>
          </a:p>
          <a:p>
            <a:pPr algn="ctr">
              <a:spcBef>
                <a:spcPts val="100"/>
              </a:spcBef>
              <a:defRPr spc="75" sz="1600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Best</a:t>
            </a:r>
            <a:r>
              <a:rPr spc="-30"/>
              <a:t> </a:t>
            </a:r>
            <a:r>
              <a:rPr spc="55"/>
              <a:t>performance</a:t>
            </a:r>
            <a:r>
              <a:rPr spc="-35"/>
              <a:t> </a:t>
            </a:r>
            <a:r>
              <a:rPr spc="0"/>
              <a:t>on</a:t>
            </a:r>
            <a:r>
              <a:rPr spc="-30"/>
              <a:t> </a:t>
            </a:r>
            <a:r>
              <a:rPr spc="80"/>
              <a:t>300</a:t>
            </a:r>
            <a:r>
              <a:rPr spc="-30"/>
              <a:t> </a:t>
            </a:r>
            <a:r>
              <a:rPr spc="0"/>
              <a:t>DPI</a:t>
            </a:r>
            <a:r>
              <a:rPr spc="-35"/>
              <a:t> </a:t>
            </a:r>
            <a:r>
              <a:rPr spc="70"/>
              <a:t>dataset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1862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Deep Learning Approach: From Scratch to Transfer Learning"/>
          <p:cNvSpPr txBox="1"/>
          <p:nvPr>
            <p:ph type="title"/>
          </p:nvPr>
        </p:nvSpPr>
        <p:spPr>
          <a:xfrm>
            <a:off x="-4324107" y="436426"/>
            <a:ext cx="10927156" cy="1093471"/>
          </a:xfrm>
          <a:prstGeom prst="rect">
            <a:avLst/>
          </a:prstGeom>
        </p:spPr>
        <p:txBody>
          <a:bodyPr/>
          <a:lstStyle/>
          <a:p>
            <a:pPr marR="5080" indent="5149215">
              <a:lnSpc>
                <a:spcPct val="106600"/>
              </a:lnSpc>
              <a:spcBef>
                <a:spcPts val="100"/>
              </a:spcBef>
            </a:pPr>
            <a:r>
              <a:t>Deep</a:t>
            </a:r>
            <a:r>
              <a:rPr spc="-100"/>
              <a:t> </a:t>
            </a:r>
            <a:r>
              <a:t>Learning</a:t>
            </a:r>
            <a:r>
              <a:rPr spc="-100"/>
              <a:t> </a:t>
            </a:r>
            <a:r>
              <a:t>Approach:</a:t>
            </a:r>
            <a:r>
              <a:rPr spc="-100"/>
              <a:t> </a:t>
            </a:r>
            <a:r>
              <a:t>From</a:t>
            </a:r>
            <a:r>
              <a:rPr spc="-100"/>
              <a:t> </a:t>
            </a:r>
            <a:r>
              <a:rPr spc="100"/>
              <a:t>Scratch</a:t>
            </a:r>
            <a:r>
              <a:rPr spc="-100"/>
              <a:t> to</a:t>
            </a:r>
            <a:r>
              <a:rPr spc="-100" u="none"/>
              <a:t> </a:t>
            </a:r>
            <a:r>
              <a:rPr spc="-100"/>
              <a:t>Transfer</a:t>
            </a:r>
            <a:r>
              <a:rPr spc="-300"/>
              <a:t> </a:t>
            </a:r>
            <a:r>
              <a:rPr spc="-100"/>
              <a:t>Learning</a:t>
            </a:r>
          </a:p>
        </p:txBody>
      </p:sp>
      <p:pic>
        <p:nvPicPr>
          <p:cNvPr id="93" name="object 4" descr="object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68117" y="2542376"/>
            <a:ext cx="742709" cy="1093471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object 5"/>
          <p:cNvSpPr txBox="1"/>
          <p:nvPr/>
        </p:nvSpPr>
        <p:spPr>
          <a:xfrm>
            <a:off x="1664101" y="2541741"/>
            <a:ext cx="7134226" cy="1320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10" sz="1600">
                <a:solidFill>
                  <a:srgbClr val="E4DFD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CNN</a:t>
            </a:r>
            <a:r>
              <a:rPr spc="-85"/>
              <a:t> </a:t>
            </a:r>
            <a:r>
              <a:rPr spc="0"/>
              <a:t>from</a:t>
            </a:r>
            <a:r>
              <a:rPr spc="-80"/>
              <a:t> </a:t>
            </a:r>
            <a:r>
              <a:rPr spc="45"/>
              <a:t>Scratch</a:t>
            </a:r>
          </a:p>
          <a:p>
            <a:pPr indent="12700">
              <a:spcBef>
                <a:spcPts val="1200"/>
              </a:spcBef>
              <a:defRPr spc="20" sz="1400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Initial</a:t>
            </a:r>
            <a:r>
              <a:rPr spc="35"/>
              <a:t> </a:t>
            </a:r>
            <a:r>
              <a:rPr spc="55"/>
              <a:t>attempt</a:t>
            </a:r>
            <a:r>
              <a:rPr spc="-15"/>
              <a:t> </a:t>
            </a:r>
            <a:r>
              <a:t>with</a:t>
            </a:r>
            <a:r>
              <a:rPr spc="45"/>
              <a:t> </a:t>
            </a:r>
            <a:r>
              <a:rPr spc="85"/>
              <a:t>custom</a:t>
            </a:r>
            <a:r>
              <a:rPr spc="45"/>
              <a:t> </a:t>
            </a:r>
            <a:r>
              <a:t>convolutional</a:t>
            </a:r>
            <a:r>
              <a:rPr spc="35"/>
              <a:t> </a:t>
            </a:r>
            <a:r>
              <a:t>neural</a:t>
            </a:r>
            <a:r>
              <a:rPr spc="50"/>
              <a:t> </a:t>
            </a:r>
            <a:r>
              <a:rPr spc="10"/>
              <a:t>network</a:t>
            </a:r>
            <a:r>
              <a:rPr spc="30"/>
              <a:t> </a:t>
            </a:r>
            <a:r>
              <a:t>revealed</a:t>
            </a:r>
            <a:r>
              <a:rPr spc="15"/>
              <a:t> </a:t>
            </a:r>
            <a:r>
              <a:t>severe</a:t>
            </a:r>
            <a:r>
              <a:rPr spc="40"/>
              <a:t> </a:t>
            </a:r>
            <a:r>
              <a:t>under-fitting</a:t>
            </a:r>
            <a:r>
              <a:rPr spc="25"/>
              <a:t> </a:t>
            </a:r>
            <a:r>
              <a:rPr spc="55"/>
              <a:t>due</a:t>
            </a:r>
            <a:r>
              <a:rPr spc="45"/>
              <a:t> </a:t>
            </a:r>
            <a:r>
              <a:rPr spc="-25"/>
              <a:t>to</a:t>
            </a:r>
          </a:p>
          <a:p>
            <a:pPr indent="12700">
              <a:spcBef>
                <a:spcPts val="200"/>
              </a:spcBef>
              <a:defRPr spc="10" sz="1400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limited</a:t>
            </a:r>
            <a:r>
              <a:rPr spc="-5"/>
              <a:t> </a:t>
            </a:r>
            <a:r>
              <a:rPr spc="75"/>
              <a:t>dataset</a:t>
            </a:r>
            <a:r>
              <a:rPr spc="-15"/>
              <a:t> </a:t>
            </a:r>
            <a:r>
              <a:rPr spc="60"/>
              <a:t>size.</a:t>
            </a:r>
            <a:r>
              <a:rPr spc="40"/>
              <a:t> </a:t>
            </a:r>
            <a:r>
              <a:rPr spc="50"/>
              <a:t>Accuracy</a:t>
            </a:r>
            <a:r>
              <a:rPr spc="45"/>
              <a:t> </a:t>
            </a:r>
            <a:r>
              <a:rPr spc="60"/>
              <a:t>plateaued</a:t>
            </a:r>
            <a:r>
              <a:rPr spc="-15"/>
              <a:t> </a:t>
            </a:r>
            <a:r>
              <a:rPr spc="65"/>
              <a:t>at</a:t>
            </a:r>
            <a:r>
              <a:rPr spc="20"/>
              <a:t> </a:t>
            </a:r>
            <a:r>
              <a:t>only</a:t>
            </a:r>
            <a:r>
              <a:rPr spc="35"/>
              <a:t> </a:t>
            </a:r>
            <a:r>
              <a:t>40-55%,</a:t>
            </a:r>
            <a:r>
              <a:rPr spc="-25"/>
              <a:t> </a:t>
            </a:r>
            <a:r>
              <a:rPr spc="60"/>
              <a:t>indicating</a:t>
            </a:r>
            <a:r>
              <a:rPr spc="30"/>
              <a:t> </a:t>
            </a:r>
            <a:r>
              <a:rPr spc="60"/>
              <a:t>insufficient</a:t>
            </a:r>
            <a:r>
              <a:rPr spc="40"/>
              <a:t> </a:t>
            </a:r>
            <a:r>
              <a:t>training</a:t>
            </a:r>
            <a:r>
              <a:rPr spc="30"/>
              <a:t> </a:t>
            </a:r>
            <a:r>
              <a:rPr spc="50"/>
              <a:t>data.</a:t>
            </a:r>
          </a:p>
        </p:txBody>
      </p:sp>
      <p:pic>
        <p:nvPicPr>
          <p:cNvPr id="95" name="object 6" descr="object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74848" y="4235160"/>
            <a:ext cx="742709" cy="1093470"/>
          </a:xfrm>
          <a:prstGeom prst="rect">
            <a:avLst/>
          </a:prstGeom>
          <a:ln w="12700">
            <a:miter lim="400000"/>
          </a:ln>
        </p:spPr>
      </p:pic>
      <p:sp>
        <p:nvSpPr>
          <p:cNvPr id="96" name="object 7"/>
          <p:cNvSpPr txBox="1"/>
          <p:nvPr/>
        </p:nvSpPr>
        <p:spPr>
          <a:xfrm>
            <a:off x="1664101" y="4234272"/>
            <a:ext cx="7218045" cy="1308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10" sz="1600">
                <a:solidFill>
                  <a:srgbClr val="E4DFD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Transfer</a:t>
            </a:r>
            <a:r>
              <a:rPr spc="-104"/>
              <a:t> </a:t>
            </a:r>
            <a:r>
              <a:t>Learning</a:t>
            </a:r>
          </a:p>
          <a:p>
            <a:pPr indent="12700">
              <a:spcBef>
                <a:spcPts val="1100"/>
              </a:spcBef>
              <a:defRPr spc="60" sz="1400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Leveraged</a:t>
            </a:r>
            <a:r>
              <a:rPr spc="90"/>
              <a:t> </a:t>
            </a:r>
            <a:r>
              <a:rPr spc="0"/>
              <a:t>pre-trained</a:t>
            </a:r>
            <a:r>
              <a:rPr spc="125"/>
              <a:t> </a:t>
            </a:r>
            <a:r>
              <a:rPr spc="0"/>
              <a:t>MobileNetV2</a:t>
            </a:r>
            <a:r>
              <a:rPr spc="94"/>
              <a:t> </a:t>
            </a:r>
            <a:r>
              <a:rPr spc="90"/>
              <a:t>and</a:t>
            </a:r>
            <a:r>
              <a:rPr spc="150"/>
              <a:t> </a:t>
            </a:r>
            <a:r>
              <a:rPr spc="0"/>
              <a:t>EfficientNet</a:t>
            </a:r>
            <a:r>
              <a:rPr spc="120"/>
              <a:t> </a:t>
            </a:r>
            <a:r>
              <a:rPr spc="0"/>
              <a:t>architectures,</a:t>
            </a:r>
            <a:r>
              <a:rPr spc="155"/>
              <a:t> </a:t>
            </a:r>
            <a:r>
              <a:rPr spc="0"/>
              <a:t>fine-</a:t>
            </a:r>
            <a:r>
              <a:t>tuning</a:t>
            </a:r>
            <a:r>
              <a:rPr spc="145"/>
              <a:t> </a:t>
            </a:r>
            <a:r>
              <a:rPr spc="65"/>
              <a:t>them</a:t>
            </a:r>
            <a:r>
              <a:rPr spc="135"/>
              <a:t> </a:t>
            </a:r>
            <a:r>
              <a:rPr spc="0"/>
              <a:t>on</a:t>
            </a:r>
            <a:r>
              <a:rPr spc="140"/>
              <a:t> </a:t>
            </a:r>
            <a:r>
              <a:rPr spc="-25"/>
              <a:t>our</a:t>
            </a:r>
          </a:p>
          <a:p>
            <a:pPr indent="12700">
              <a:spcBef>
                <a:spcPts val="200"/>
              </a:spcBef>
              <a:defRPr spc="70" sz="1400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scanner</a:t>
            </a:r>
            <a:r>
              <a:rPr spc="40"/>
              <a:t> </a:t>
            </a:r>
            <a:r>
              <a:rPr spc="65"/>
              <a:t>dataset.</a:t>
            </a:r>
            <a:r>
              <a:rPr spc="-15"/>
              <a:t> </a:t>
            </a:r>
            <a:r>
              <a:rPr spc="20"/>
              <a:t>Applied</a:t>
            </a:r>
            <a:r>
              <a:rPr spc="5"/>
              <a:t> </a:t>
            </a:r>
            <a:r>
              <a:rPr spc="20"/>
              <a:t>extensive</a:t>
            </a:r>
            <a:r>
              <a:rPr spc="15"/>
              <a:t> </a:t>
            </a:r>
            <a:r>
              <a:rPr spc="85"/>
              <a:t>data</a:t>
            </a:r>
            <a:r>
              <a:rPr spc="0"/>
              <a:t> </a:t>
            </a:r>
            <a:r>
              <a:t>augmentation</a:t>
            </a:r>
            <a:r>
              <a:rPr spc="-5"/>
              <a:t> </a:t>
            </a:r>
            <a:r>
              <a:rPr spc="10"/>
              <a:t>to</a:t>
            </a:r>
            <a:r>
              <a:rPr spc="15"/>
              <a:t> </a:t>
            </a:r>
            <a:r>
              <a:rPr spc="20"/>
              <a:t>artificially</a:t>
            </a:r>
            <a:r>
              <a:rPr spc="10"/>
              <a:t> </a:t>
            </a:r>
            <a:r>
              <a:rPr spc="60"/>
              <a:t>expand</a:t>
            </a:r>
            <a:r>
              <a:rPr spc="10"/>
              <a:t> </a:t>
            </a:r>
            <a:r>
              <a:rPr spc="20"/>
              <a:t>training</a:t>
            </a:r>
            <a:r>
              <a:rPr spc="25"/>
              <a:t> </a:t>
            </a:r>
            <a:r>
              <a:rPr spc="80"/>
              <a:t>samples.</a:t>
            </a:r>
          </a:p>
        </p:txBody>
      </p:sp>
      <p:pic>
        <p:nvPicPr>
          <p:cNvPr id="97" name="object 8" descr="object 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74848" y="6154384"/>
            <a:ext cx="742709" cy="1093471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object 9"/>
          <p:cNvSpPr txBox="1"/>
          <p:nvPr/>
        </p:nvSpPr>
        <p:spPr>
          <a:xfrm>
            <a:off x="1664101" y="6136859"/>
            <a:ext cx="6884670" cy="1181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60960">
              <a:defRPr spc="10" sz="1600">
                <a:solidFill>
                  <a:srgbClr val="E4DFD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Performance</a:t>
            </a:r>
            <a:r>
              <a:rPr spc="315"/>
              <a:t> </a:t>
            </a:r>
            <a:r>
              <a:rPr spc="-10"/>
              <a:t>Breakthrough</a:t>
            </a:r>
          </a:p>
          <a:p>
            <a:pPr indent="12700">
              <a:spcBef>
                <a:spcPts val="1800"/>
              </a:spcBef>
              <a:defRPr spc="30" sz="1400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Achieved</a:t>
            </a:r>
            <a:r>
              <a:rPr spc="-5"/>
              <a:t> </a:t>
            </a:r>
            <a:r>
              <a:rPr spc="65"/>
              <a:t>dramatic</a:t>
            </a:r>
            <a:r>
              <a:rPr spc="-40"/>
              <a:t> </a:t>
            </a:r>
            <a:r>
              <a:t>improvement</a:t>
            </a:r>
            <a:r>
              <a:rPr spc="-30"/>
              <a:t> </a:t>
            </a:r>
            <a:r>
              <a:rPr spc="20"/>
              <a:t>with</a:t>
            </a:r>
            <a:r>
              <a:rPr spc="-15"/>
              <a:t> </a:t>
            </a:r>
            <a:r>
              <a:rPr spc="75"/>
              <a:t>82%</a:t>
            </a:r>
            <a:r>
              <a:rPr spc="-10"/>
              <a:t> </a:t>
            </a:r>
            <a:r>
              <a:t>training</a:t>
            </a:r>
            <a:r>
              <a:rPr spc="10"/>
              <a:t> </a:t>
            </a:r>
            <a:r>
              <a:rPr spc="80"/>
              <a:t>accuracy</a:t>
            </a:r>
            <a:r>
              <a:rPr spc="5"/>
              <a:t> </a:t>
            </a:r>
            <a:r>
              <a:rPr spc="90"/>
              <a:t>and</a:t>
            </a:r>
            <a:r>
              <a:rPr spc="0"/>
              <a:t> </a:t>
            </a:r>
            <a:r>
              <a:rPr spc="50"/>
              <a:t>84%+</a:t>
            </a:r>
            <a:r>
              <a:rPr spc="-30"/>
              <a:t> </a:t>
            </a:r>
            <a:r>
              <a:rPr spc="50"/>
              <a:t>validation/testing</a:t>
            </a:r>
          </a:p>
          <a:p>
            <a:pPr indent="12700">
              <a:spcBef>
                <a:spcPts val="200"/>
              </a:spcBef>
              <a:defRPr spc="70" sz="1400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accuracy.</a:t>
            </a:r>
            <a:r>
              <a:rPr spc="-25"/>
              <a:t> </a:t>
            </a:r>
            <a:r>
              <a:rPr spc="45"/>
              <a:t>Transfer</a:t>
            </a:r>
            <a:r>
              <a:rPr spc="-35"/>
              <a:t> </a:t>
            </a:r>
            <a:r>
              <a:rPr spc="50"/>
              <a:t>learning</a:t>
            </a:r>
            <a:r>
              <a:rPr spc="-20"/>
              <a:t> </a:t>
            </a:r>
            <a:r>
              <a:rPr spc="50"/>
              <a:t>effectively</a:t>
            </a:r>
            <a:r>
              <a:rPr spc="-65"/>
              <a:t> </a:t>
            </a:r>
            <a:r>
              <a:rPr spc="75"/>
              <a:t>addressed</a:t>
            </a:r>
            <a:r>
              <a:rPr spc="-60"/>
              <a:t> </a:t>
            </a:r>
            <a:r>
              <a:rPr spc="0"/>
              <a:t>the</a:t>
            </a:r>
            <a:r>
              <a:rPr spc="-25"/>
              <a:t> </a:t>
            </a:r>
            <a:r>
              <a:rPr spc="94"/>
              <a:t>small</a:t>
            </a:r>
            <a:r>
              <a:rPr spc="-50"/>
              <a:t> </a:t>
            </a:r>
            <a:r>
              <a:rPr spc="75"/>
              <a:t>dataset</a:t>
            </a:r>
            <a:r>
              <a:rPr spc="-50"/>
              <a:t> </a:t>
            </a:r>
            <a:r>
              <a:rPr spc="55"/>
              <a:t>challenge.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1862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Model Explainability: Understanding CNN Decisions"/>
          <p:cNvSpPr txBox="1"/>
          <p:nvPr>
            <p:ph type="title"/>
          </p:nvPr>
        </p:nvSpPr>
        <p:spPr>
          <a:xfrm>
            <a:off x="2136393" y="254888"/>
            <a:ext cx="9784082" cy="497842"/>
          </a:xfrm>
          <a:prstGeom prst="rect">
            <a:avLst/>
          </a:prstGeom>
        </p:spPr>
        <p:txBody>
          <a:bodyPr/>
          <a:lstStyle/>
          <a:p>
            <a:pPr indent="12064" defTabSz="868680">
              <a:defRPr sz="2945"/>
            </a:pPr>
            <a:r>
              <a:t>Model </a:t>
            </a:r>
            <a:r>
              <a:rPr spc="-94"/>
              <a:t>Explainability:</a:t>
            </a:r>
            <a:r>
              <a:t> Understanding </a:t>
            </a:r>
            <a:r>
              <a:rPr spc="-94"/>
              <a:t>CNN</a:t>
            </a:r>
            <a:r>
              <a:t> </a:t>
            </a:r>
            <a:r>
              <a:rPr spc="-94"/>
              <a:t>Decisions</a:t>
            </a:r>
          </a:p>
        </p:txBody>
      </p:sp>
      <p:pic>
        <p:nvPicPr>
          <p:cNvPr id="101" name="object 6" descr="object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27733" y="1168272"/>
            <a:ext cx="4997704" cy="4997704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object 7"/>
          <p:cNvSpPr txBox="1"/>
          <p:nvPr/>
        </p:nvSpPr>
        <p:spPr>
          <a:xfrm>
            <a:off x="6702297" y="1103122"/>
            <a:ext cx="5675631" cy="1567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2000">
                <a:solidFill>
                  <a:srgbClr val="F1F1F3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Grad-CAM</a:t>
            </a:r>
            <a:r>
              <a:rPr spc="170"/>
              <a:t> </a:t>
            </a:r>
            <a:r>
              <a:rPr spc="-9"/>
              <a:t>Visualisation</a:t>
            </a:r>
          </a:p>
          <a:p>
            <a:pPr marR="5080" indent="12700">
              <a:lnSpc>
                <a:spcPct val="104200"/>
              </a:lnSpc>
              <a:spcBef>
                <a:spcPts val="1700"/>
              </a:spcBef>
              <a:defRPr sz="1600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To</a:t>
            </a:r>
            <a:r>
              <a:rPr spc="-10"/>
              <a:t> </a:t>
            </a:r>
            <a:r>
              <a:rPr spc="60"/>
              <a:t>understand</a:t>
            </a:r>
            <a:r>
              <a:rPr spc="-5"/>
              <a:t> </a:t>
            </a:r>
            <a:r>
              <a:rPr spc="60"/>
              <a:t>what</a:t>
            </a:r>
            <a:r>
              <a:rPr spc="10"/>
              <a:t> </a:t>
            </a:r>
            <a:r>
              <a:t>our</a:t>
            </a:r>
            <a:r>
              <a:rPr spc="-10"/>
              <a:t> </a:t>
            </a:r>
            <a:r>
              <a:rPr spc="-135"/>
              <a:t>CNN</a:t>
            </a:r>
            <a:r>
              <a:t> </a:t>
            </a:r>
            <a:r>
              <a:rPr spc="80"/>
              <a:t>models</a:t>
            </a:r>
            <a:r>
              <a:rPr spc="10"/>
              <a:t> </a:t>
            </a:r>
            <a:r>
              <a:rPr spc="70"/>
              <a:t>actually</a:t>
            </a:r>
            <a:r>
              <a:rPr spc="5"/>
              <a:t> </a:t>
            </a:r>
            <a:r>
              <a:t>learned, </a:t>
            </a:r>
            <a:r>
              <a:rPr spc="25"/>
              <a:t>we </a:t>
            </a:r>
            <a:r>
              <a:rPr spc="60"/>
              <a:t>employed</a:t>
            </a:r>
            <a:r>
              <a:rPr spc="30"/>
              <a:t> </a:t>
            </a:r>
            <a:r>
              <a:t>Gradient-</a:t>
            </a:r>
            <a:r>
              <a:rPr spc="55"/>
              <a:t>weighted</a:t>
            </a:r>
            <a:r>
              <a:rPr spc="50"/>
              <a:t> </a:t>
            </a:r>
            <a:r>
              <a:rPr spc="85"/>
              <a:t>Class</a:t>
            </a:r>
            <a:r>
              <a:rPr spc="55"/>
              <a:t> </a:t>
            </a:r>
            <a:r>
              <a:t>Activation</a:t>
            </a:r>
            <a:r>
              <a:rPr spc="45"/>
              <a:t> </a:t>
            </a:r>
            <a:r>
              <a:rPr spc="100"/>
              <a:t>Mapping</a:t>
            </a:r>
            <a:r>
              <a:rPr spc="45"/>
              <a:t> </a:t>
            </a:r>
            <a:r>
              <a:rPr spc="-10"/>
              <a:t>(Grad- </a:t>
            </a:r>
            <a:r>
              <a:rPr spc="-20"/>
              <a:t>CAM),</a:t>
            </a:r>
            <a:r>
              <a:rPr spc="30"/>
              <a:t> </a:t>
            </a:r>
            <a:r>
              <a:rPr spc="165"/>
              <a:t>a</a:t>
            </a:r>
            <a:r>
              <a:rPr spc="25"/>
              <a:t> </a:t>
            </a:r>
            <a:r>
              <a:t>powerful</a:t>
            </a:r>
            <a:r>
              <a:rPr spc="5"/>
              <a:t> </a:t>
            </a:r>
            <a:r>
              <a:rPr spc="50"/>
              <a:t>technique</a:t>
            </a:r>
            <a:r>
              <a:rPr spc="5"/>
              <a:t> </a:t>
            </a:r>
            <a:r>
              <a:t>that</a:t>
            </a:r>
            <a:r>
              <a:rPr spc="-5"/>
              <a:t> </a:t>
            </a:r>
            <a:r>
              <a:rPr spc="75"/>
              <a:t>highlights</a:t>
            </a:r>
            <a:r>
              <a:rPr spc="10"/>
              <a:t> </a:t>
            </a:r>
            <a:r>
              <a:rPr spc="60"/>
              <a:t>which</a:t>
            </a:r>
            <a:r>
              <a:rPr spc="15"/>
              <a:t> </a:t>
            </a:r>
            <a:r>
              <a:rPr spc="114"/>
              <a:t>image</a:t>
            </a:r>
            <a:r>
              <a:rPr spc="25"/>
              <a:t> </a:t>
            </a:r>
            <a:r>
              <a:rPr spc="50"/>
              <a:t>regions </a:t>
            </a:r>
            <a:r>
              <a:rPr spc="80"/>
              <a:t>most</a:t>
            </a:r>
            <a:r>
              <a:rPr spc="-25"/>
              <a:t> </a:t>
            </a:r>
            <a:r>
              <a:rPr spc="55"/>
              <a:t>influence</a:t>
            </a:r>
            <a:r>
              <a:rPr spc="-35"/>
              <a:t> </a:t>
            </a:r>
            <a:r>
              <a:rPr spc="-10"/>
              <a:t>predictions.</a:t>
            </a:r>
          </a:p>
        </p:txBody>
      </p:sp>
      <p:sp>
        <p:nvSpPr>
          <p:cNvPr id="103" name="object 8"/>
          <p:cNvSpPr txBox="1"/>
          <p:nvPr/>
        </p:nvSpPr>
        <p:spPr>
          <a:xfrm>
            <a:off x="6702297" y="3479291"/>
            <a:ext cx="6615431" cy="2374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2000">
                <a:solidFill>
                  <a:srgbClr val="F1F1F3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Critical</a:t>
            </a:r>
            <a:r>
              <a:rPr spc="15"/>
              <a:t> </a:t>
            </a:r>
            <a:r>
              <a:rPr spc="-9"/>
              <a:t>Observations</a:t>
            </a:r>
          </a:p>
          <a:p>
            <a:pPr marL="355600" indent="-342900">
              <a:spcBef>
                <a:spcPts val="2300"/>
              </a:spcBef>
              <a:buSzPct val="100000"/>
              <a:buChar char="•"/>
              <a:tabLst>
                <a:tab pos="355600" algn="l"/>
              </a:tabLst>
              <a:defRPr spc="50" sz="1600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Model</a:t>
            </a:r>
            <a:r>
              <a:rPr spc="20"/>
              <a:t> attention</a:t>
            </a:r>
            <a:r>
              <a:rPr spc="0"/>
              <a:t> </a:t>
            </a:r>
            <a:r>
              <a:rPr spc="20"/>
              <a:t>concentrated</a:t>
            </a:r>
            <a:r>
              <a:rPr spc="0"/>
              <a:t> </a:t>
            </a:r>
            <a:r>
              <a:rPr spc="20"/>
              <a:t>on</a:t>
            </a:r>
            <a:r>
              <a:rPr spc="15"/>
              <a:t> </a:t>
            </a:r>
            <a:r>
              <a:rPr spc="65"/>
              <a:t>background</a:t>
            </a:r>
            <a:r>
              <a:rPr spc="15"/>
              <a:t> </a:t>
            </a:r>
            <a:r>
              <a:rPr spc="90"/>
              <a:t>areas</a:t>
            </a:r>
            <a:r>
              <a:rPr spc="40"/>
              <a:t> </a:t>
            </a:r>
            <a:r>
              <a:rPr spc="100"/>
              <a:t>and</a:t>
            </a:r>
            <a:r>
              <a:rPr spc="20"/>
              <a:t> </a:t>
            </a:r>
            <a:r>
              <a:rPr spc="60"/>
              <a:t>noise</a:t>
            </a:r>
            <a:r>
              <a:rPr spc="20"/>
              <a:t> </a:t>
            </a:r>
            <a:r>
              <a:rPr spc="40"/>
              <a:t>patterns</a:t>
            </a:r>
          </a:p>
          <a:p>
            <a:pPr>
              <a:spcBef>
                <a:spcPts val="1000"/>
              </a:spcBef>
              <a:buClr>
                <a:srgbClr val="E4DFDF"/>
              </a:buClr>
              <a:buSzPct val="100000"/>
              <a:buFont typeface="Helvetica"/>
              <a:buChar char="•"/>
              <a:defRPr sz="1600">
                <a:latin typeface="Gill Sans MT"/>
                <a:ea typeface="Gill Sans MT"/>
                <a:cs typeface="Gill Sans MT"/>
                <a:sym typeface="Gill Sans MT"/>
              </a:defRPr>
            </a:pPr>
          </a:p>
          <a:p>
            <a:pPr marL="355600" indent="-342900">
              <a:buSzPct val="100000"/>
              <a:buChar char="•"/>
              <a:tabLst>
                <a:tab pos="355600" algn="l"/>
              </a:tabLst>
              <a:defRPr spc="75" sz="1600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Minimal</a:t>
            </a:r>
            <a:r>
              <a:rPr spc="45"/>
              <a:t> </a:t>
            </a:r>
            <a:r>
              <a:rPr spc="104"/>
              <a:t>focus</a:t>
            </a:r>
            <a:r>
              <a:rPr spc="5"/>
              <a:t> </a:t>
            </a:r>
            <a:r>
              <a:rPr spc="0"/>
              <a:t>on</a:t>
            </a:r>
            <a:r>
              <a:rPr spc="20"/>
              <a:t> </a:t>
            </a:r>
            <a:r>
              <a:rPr spc="0"/>
              <a:t>text content </a:t>
            </a:r>
            <a:r>
              <a:rPr spc="50"/>
              <a:t>itself</a:t>
            </a:r>
          </a:p>
          <a:p>
            <a:pPr>
              <a:spcBef>
                <a:spcPts val="1200"/>
              </a:spcBef>
              <a:buClr>
                <a:srgbClr val="E4DFDF"/>
              </a:buClr>
              <a:buSzPct val="100000"/>
              <a:buFont typeface="Helvetica"/>
              <a:buChar char="•"/>
              <a:defRPr sz="1600">
                <a:latin typeface="Gill Sans MT"/>
                <a:ea typeface="Gill Sans MT"/>
                <a:cs typeface="Gill Sans MT"/>
                <a:sym typeface="Gill Sans MT"/>
              </a:defRPr>
            </a:pPr>
          </a:p>
          <a:p>
            <a:pPr marL="355600" indent="-342900">
              <a:buSzPct val="100000"/>
              <a:buChar char="•"/>
              <a:tabLst>
                <a:tab pos="355600" algn="l"/>
              </a:tabLst>
              <a:defRPr spc="50" sz="1600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Strong</a:t>
            </a:r>
            <a:r>
              <a:rPr spc="-40"/>
              <a:t> </a:t>
            </a:r>
            <a:r>
              <a:rPr spc="55"/>
              <a:t>activation</a:t>
            </a:r>
            <a:r>
              <a:rPr spc="-10"/>
              <a:t> </a:t>
            </a:r>
            <a:r>
              <a:rPr spc="0"/>
              <a:t>in</a:t>
            </a:r>
            <a:r>
              <a:rPr spc="-45"/>
              <a:t> </a:t>
            </a:r>
            <a:r>
              <a:rPr spc="85"/>
              <a:t>margin</a:t>
            </a:r>
            <a:r>
              <a:rPr spc="-10"/>
              <a:t> </a:t>
            </a:r>
            <a:r>
              <a:rPr spc="60"/>
              <a:t>regions</a:t>
            </a:r>
            <a:r>
              <a:rPr spc="-40"/>
              <a:t> </a:t>
            </a:r>
            <a:r>
              <a:rPr spc="100"/>
              <a:t>and</a:t>
            </a:r>
            <a:r>
              <a:rPr spc="-25"/>
              <a:t> </a:t>
            </a:r>
            <a:r>
              <a:t>uniform</a:t>
            </a:r>
            <a:r>
              <a:rPr spc="-30"/>
              <a:t> </a:t>
            </a:r>
            <a:r>
              <a:rPr spc="70"/>
              <a:t>backgrounds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chemeClr val="accent1">
            <a:lumOff val="11862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Deployment &amp; Key Takeaways"/>
          <p:cNvSpPr txBox="1"/>
          <p:nvPr>
            <p:ph type="title"/>
          </p:nvPr>
        </p:nvSpPr>
        <p:spPr>
          <a:xfrm>
            <a:off x="838327" y="408398"/>
            <a:ext cx="6814820" cy="574676"/>
          </a:xfrm>
          <a:prstGeom prst="rect">
            <a:avLst/>
          </a:prstGeom>
        </p:spPr>
        <p:txBody>
          <a:bodyPr/>
          <a:lstStyle/>
          <a:p>
            <a:pPr indent="12064" defTabSz="868680">
              <a:defRPr sz="3420"/>
            </a:pPr>
            <a:r>
              <a:t>Deployment</a:t>
            </a:r>
            <a:r>
              <a:rPr spc="-190"/>
              <a:t> </a:t>
            </a:r>
            <a:r>
              <a:t>&amp;</a:t>
            </a:r>
            <a:r>
              <a:rPr spc="-190"/>
              <a:t> </a:t>
            </a:r>
            <a:r>
              <a:t>Key</a:t>
            </a:r>
            <a:r>
              <a:rPr spc="-190"/>
              <a:t> </a:t>
            </a:r>
            <a:r>
              <a:t>Takeaways</a:t>
            </a:r>
          </a:p>
        </p:txBody>
      </p:sp>
      <p:sp>
        <p:nvSpPr>
          <p:cNvPr id="106" name="Stream-lit Web Interface…"/>
          <p:cNvSpPr txBox="1"/>
          <p:nvPr>
            <p:ph type="body" sz="quarter" idx="1"/>
          </p:nvPr>
        </p:nvSpPr>
        <p:spPr>
          <a:xfrm>
            <a:off x="711515" y="2372706"/>
            <a:ext cx="4202304" cy="2140586"/>
          </a:xfrm>
          <a:prstGeom prst="rect">
            <a:avLst/>
          </a:prstGeom>
        </p:spPr>
        <p:txBody>
          <a:bodyPr/>
          <a:lstStyle/>
          <a:p>
            <a:pPr indent="10667" defTabSz="768095">
              <a:defRPr sz="2351"/>
            </a:pPr>
            <a:r>
              <a:t>Stream-lit</a:t>
            </a:r>
            <a:r>
              <a:rPr spc="-84"/>
              <a:t> </a:t>
            </a:r>
            <a:r>
              <a:rPr spc="84"/>
              <a:t>Web</a:t>
            </a:r>
            <a:r>
              <a:rPr spc="-84"/>
              <a:t> </a:t>
            </a:r>
            <a:r>
              <a:t>Interface</a:t>
            </a:r>
          </a:p>
          <a:p>
            <a:pPr marR="4267" indent="10667" defTabSz="768095">
              <a:lnSpc>
                <a:spcPct val="83400"/>
              </a:lnSpc>
              <a:spcBef>
                <a:spcPts val="2600"/>
              </a:spcBef>
              <a:defRPr sz="1679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Deployed </a:t>
            </a:r>
            <a:r>
              <a:rPr spc="84"/>
              <a:t>an</a:t>
            </a:r>
            <a:r>
              <a:t> intuitive</a:t>
            </a:r>
            <a:r>
              <a:rPr spc="-84"/>
              <a:t> </a:t>
            </a:r>
            <a:r>
              <a:t>web application where </a:t>
            </a:r>
            <a:r>
              <a:rPr spc="84"/>
              <a:t>users</a:t>
            </a:r>
            <a:r>
              <a:t> </a:t>
            </a:r>
            <a:r>
              <a:rPr spc="84"/>
              <a:t>can </a:t>
            </a:r>
            <a:r>
              <a:t>upload</a:t>
            </a:r>
            <a:r>
              <a:rPr spc="-84"/>
              <a:t> </a:t>
            </a:r>
            <a:r>
              <a:rPr spc="84"/>
              <a:t>scanned</a:t>
            </a:r>
            <a:r>
              <a:rPr spc="-84"/>
              <a:t> </a:t>
            </a:r>
            <a:r>
              <a:rPr spc="84"/>
              <a:t>documents</a:t>
            </a:r>
            <a:r>
              <a:rPr spc="-84"/>
              <a:t> </a:t>
            </a:r>
            <a:r>
              <a:rPr spc="84"/>
              <a:t>and</a:t>
            </a:r>
            <a:r>
              <a:rPr spc="-84"/>
              <a:t> </a:t>
            </a:r>
            <a:r>
              <a:t>receive instant</a:t>
            </a:r>
            <a:r>
              <a:rPr spc="-84"/>
              <a:t> </a:t>
            </a:r>
            <a:r>
              <a:t>scanner brand</a:t>
            </a:r>
            <a:r>
              <a:rPr spc="-84"/>
              <a:t> </a:t>
            </a:r>
            <a:r>
              <a:t>predictions.</a:t>
            </a:r>
            <a:r>
              <a:rPr spc="-84"/>
              <a:t> </a:t>
            </a:r>
            <a:r>
              <a:t>The</a:t>
            </a:r>
            <a:r>
              <a:rPr spc="-84"/>
              <a:t> </a:t>
            </a:r>
            <a:r>
              <a:t>interface</a:t>
            </a:r>
            <a:r>
              <a:rPr spc="-84"/>
              <a:t> </a:t>
            </a:r>
            <a:r>
              <a:rPr spc="84"/>
              <a:t>maintains</a:t>
            </a:r>
            <a:r>
              <a:rPr spc="-84"/>
              <a:t> </a:t>
            </a:r>
            <a:r>
              <a:t>the</a:t>
            </a:r>
            <a:r>
              <a:rPr spc="-84"/>
              <a:t> </a:t>
            </a:r>
            <a:r>
              <a:t>exact preprocessing</a:t>
            </a:r>
            <a:r>
              <a:rPr spc="-84"/>
              <a:t> </a:t>
            </a:r>
            <a:r>
              <a:t>pipeline</a:t>
            </a:r>
            <a:r>
              <a:rPr spc="-84"/>
              <a:t> </a:t>
            </a:r>
            <a:r>
              <a:rPr spc="84"/>
              <a:t>used</a:t>
            </a:r>
            <a:r>
              <a:rPr spc="-84"/>
              <a:t> </a:t>
            </a:r>
            <a:r>
              <a:t>during</a:t>
            </a:r>
            <a:r>
              <a:rPr spc="-84"/>
              <a:t> </a:t>
            </a:r>
            <a:r>
              <a:t>training,</a:t>
            </a:r>
            <a:r>
              <a:rPr spc="-84"/>
              <a:t> </a:t>
            </a:r>
            <a:r>
              <a:t>ensuring prediction</a:t>
            </a:r>
            <a:r>
              <a:rPr spc="252"/>
              <a:t> </a:t>
            </a:r>
            <a:r>
              <a:t>consistency.</a:t>
            </a:r>
          </a:p>
        </p:txBody>
      </p:sp>
      <p:sp>
        <p:nvSpPr>
          <p:cNvPr id="107" name="object 8"/>
          <p:cNvSpPr txBox="1"/>
          <p:nvPr/>
        </p:nvSpPr>
        <p:spPr>
          <a:xfrm>
            <a:off x="8323285" y="2203612"/>
            <a:ext cx="5284701" cy="468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z="2800">
                <a:solidFill>
                  <a:srgbClr val="F1F1F3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Project</a:t>
            </a:r>
            <a:r>
              <a:rPr spc="-25"/>
              <a:t> </a:t>
            </a:r>
            <a:r>
              <a:rPr spc="-10"/>
              <a:t>Conclusions</a:t>
            </a:r>
          </a:p>
        </p:txBody>
      </p:sp>
      <p:sp>
        <p:nvSpPr>
          <p:cNvPr id="108" name="object 9"/>
          <p:cNvSpPr txBox="1"/>
          <p:nvPr/>
        </p:nvSpPr>
        <p:spPr>
          <a:xfrm>
            <a:off x="8369259" y="2916124"/>
            <a:ext cx="5284701" cy="1032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54965" indent="-342265">
              <a:spcBef>
                <a:spcPts val="400"/>
              </a:spcBef>
              <a:buSzPct val="100000"/>
              <a:buChar char="•"/>
              <a:tabLst>
                <a:tab pos="342900" algn="l"/>
              </a:tabLst>
              <a:defRPr spc="94" sz="1400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SVM</a:t>
            </a:r>
            <a:r>
              <a:rPr spc="-50"/>
              <a:t> </a:t>
            </a:r>
            <a:r>
              <a:rPr spc="-30"/>
              <a:t>+ </a:t>
            </a:r>
            <a:r>
              <a:rPr spc="50"/>
              <a:t>LBP:</a:t>
            </a:r>
            <a:r>
              <a:rPr spc="-45"/>
              <a:t> </a:t>
            </a:r>
            <a:r>
              <a:rPr spc="0"/>
              <a:t>Optimal</a:t>
            </a:r>
            <a:r>
              <a:rPr spc="-20"/>
              <a:t> </a:t>
            </a:r>
            <a:r>
              <a:rPr spc="0"/>
              <a:t>for</a:t>
            </a:r>
            <a:r>
              <a:rPr spc="-15"/>
              <a:t> </a:t>
            </a:r>
            <a:r>
              <a:rPr spc="55"/>
              <a:t>single-</a:t>
            </a:r>
            <a:r>
              <a:rPr spc="0"/>
              <a:t>DPI</a:t>
            </a:r>
            <a:r>
              <a:rPr spc="-20"/>
              <a:t> </a:t>
            </a:r>
            <a:r>
              <a:rPr spc="55"/>
              <a:t>scenarios</a:t>
            </a:r>
          </a:p>
          <a:p>
            <a:pPr indent="355600">
              <a:spcBef>
                <a:spcPts val="300"/>
              </a:spcBef>
              <a:defRPr sz="1400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with</a:t>
            </a:r>
            <a:r>
              <a:rPr spc="-15"/>
              <a:t> </a:t>
            </a:r>
            <a:r>
              <a:rPr spc="75"/>
              <a:t>92%</a:t>
            </a:r>
            <a:r>
              <a:rPr spc="-35"/>
              <a:t> </a:t>
            </a:r>
            <a:r>
              <a:rPr spc="70"/>
              <a:t>accuracy</a:t>
            </a:r>
          </a:p>
          <a:p>
            <a:pPr marL="355600" marR="22859" indent="-342900">
              <a:lnSpc>
                <a:spcPct val="119300"/>
              </a:lnSpc>
              <a:spcBef>
                <a:spcPts val="700"/>
              </a:spcBef>
              <a:buSzPct val="100000"/>
              <a:buChar char="•"/>
              <a:tabLst>
                <a:tab pos="355600" algn="l"/>
              </a:tabLst>
              <a:defRPr spc="-100" sz="1400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CNN</a:t>
            </a:r>
            <a:r>
              <a:rPr spc="-45"/>
              <a:t> </a:t>
            </a:r>
            <a:r>
              <a:rPr spc="45"/>
              <a:t>Models:</a:t>
            </a:r>
            <a:r>
              <a:rPr spc="-30"/>
              <a:t> </a:t>
            </a:r>
            <a:r>
              <a:rPr spc="0"/>
              <a:t>Superior</a:t>
            </a:r>
            <a:r>
              <a:rPr spc="25"/>
              <a:t> </a:t>
            </a:r>
            <a:r>
              <a:rPr spc="50"/>
              <a:t>generalisation</a:t>
            </a:r>
            <a:r>
              <a:rPr spc="-5"/>
              <a:t> </a:t>
            </a:r>
            <a:r>
              <a:rPr spc="75"/>
              <a:t>across </a:t>
            </a:r>
            <a:r>
              <a:rPr spc="10"/>
              <a:t>different</a:t>
            </a:r>
            <a:r>
              <a:rPr spc="45"/>
              <a:t> </a:t>
            </a:r>
            <a:r>
              <a:rPr spc="10"/>
              <a:t>DPI</a:t>
            </a:r>
            <a:r>
              <a:rPr spc="70"/>
              <a:t> </a:t>
            </a:r>
            <a:r>
              <a:rPr spc="60"/>
              <a:t>settings</a:t>
            </a:r>
          </a:p>
        </p:txBody>
      </p:sp>
      <p:sp>
        <p:nvSpPr>
          <p:cNvPr id="109" name="object 10"/>
          <p:cNvSpPr txBox="1"/>
          <p:nvPr/>
        </p:nvSpPr>
        <p:spPr>
          <a:xfrm>
            <a:off x="8369259" y="4208916"/>
            <a:ext cx="52847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355600" marR="5080" indent="-342900">
              <a:lnSpc>
                <a:spcPct val="119300"/>
              </a:lnSpc>
              <a:buSzPct val="100000"/>
              <a:buChar char="•"/>
              <a:tabLst>
                <a:tab pos="355600" algn="l"/>
              </a:tabLst>
              <a:defRPr spc="10" sz="1400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Transfer</a:t>
            </a:r>
            <a:r>
              <a:rPr spc="25"/>
              <a:t> </a:t>
            </a:r>
            <a:r>
              <a:t>Learning:</a:t>
            </a:r>
            <a:r>
              <a:rPr spc="50"/>
              <a:t> </a:t>
            </a:r>
            <a:r>
              <a:rPr spc="75"/>
              <a:t>Essential</a:t>
            </a:r>
            <a:r>
              <a:rPr spc="65"/>
              <a:t> </a:t>
            </a:r>
            <a:r>
              <a:t>for</a:t>
            </a:r>
            <a:r>
              <a:rPr spc="80"/>
              <a:t> </a:t>
            </a:r>
            <a:r>
              <a:rPr spc="85"/>
              <a:t>small </a:t>
            </a:r>
            <a:r>
              <a:rPr spc="50"/>
              <a:t>forensic</a:t>
            </a:r>
            <a:r>
              <a:rPr spc="-35"/>
              <a:t> </a:t>
            </a:r>
            <a:r>
              <a:rPr spc="75"/>
              <a:t>datasets</a:t>
            </a:r>
          </a:p>
        </p:txBody>
      </p:sp>
      <p:grpSp>
        <p:nvGrpSpPr>
          <p:cNvPr id="112" name="object 11"/>
          <p:cNvGrpSpPr/>
          <p:nvPr/>
        </p:nvGrpSpPr>
        <p:grpSpPr>
          <a:xfrm>
            <a:off x="695933" y="4883420"/>
            <a:ext cx="4484371" cy="1678053"/>
            <a:chOff x="0" y="0"/>
            <a:chExt cx="4484370" cy="1678052"/>
          </a:xfrm>
        </p:grpSpPr>
        <p:sp>
          <p:nvSpPr>
            <p:cNvPr id="110" name="object 12"/>
            <p:cNvSpPr/>
            <p:nvPr/>
          </p:nvSpPr>
          <p:spPr>
            <a:xfrm>
              <a:off x="0" y="0"/>
              <a:ext cx="4484371" cy="16780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225" y="0"/>
                  </a:moveTo>
                  <a:lnTo>
                    <a:pt x="375" y="0"/>
                  </a:lnTo>
                  <a:lnTo>
                    <a:pt x="229" y="79"/>
                  </a:lnTo>
                  <a:lnTo>
                    <a:pt x="110" y="294"/>
                  </a:lnTo>
                  <a:lnTo>
                    <a:pt x="29" y="612"/>
                  </a:lnTo>
                  <a:lnTo>
                    <a:pt x="0" y="1002"/>
                  </a:lnTo>
                  <a:lnTo>
                    <a:pt x="0" y="20600"/>
                  </a:lnTo>
                  <a:lnTo>
                    <a:pt x="29" y="20989"/>
                  </a:lnTo>
                  <a:lnTo>
                    <a:pt x="110" y="21307"/>
                  </a:lnTo>
                  <a:lnTo>
                    <a:pt x="229" y="21521"/>
                  </a:lnTo>
                  <a:lnTo>
                    <a:pt x="375" y="21600"/>
                  </a:lnTo>
                  <a:lnTo>
                    <a:pt x="21225" y="21600"/>
                  </a:lnTo>
                  <a:lnTo>
                    <a:pt x="21371" y="21521"/>
                  </a:lnTo>
                  <a:lnTo>
                    <a:pt x="21490" y="21307"/>
                  </a:lnTo>
                  <a:lnTo>
                    <a:pt x="21571" y="20989"/>
                  </a:lnTo>
                  <a:lnTo>
                    <a:pt x="21600" y="20600"/>
                  </a:lnTo>
                  <a:lnTo>
                    <a:pt x="21600" y="1002"/>
                  </a:lnTo>
                  <a:lnTo>
                    <a:pt x="21571" y="612"/>
                  </a:lnTo>
                  <a:lnTo>
                    <a:pt x="21490" y="294"/>
                  </a:lnTo>
                  <a:lnTo>
                    <a:pt x="21371" y="79"/>
                  </a:lnTo>
                  <a:lnTo>
                    <a:pt x="21225" y="0"/>
                  </a:lnTo>
                  <a:close/>
                </a:path>
              </a:pathLst>
            </a:custGeom>
            <a:solidFill>
              <a:srgbClr val="3C3C4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1" name="object 13"/>
            <p:cNvSpPr/>
            <p:nvPr/>
          </p:nvSpPr>
          <p:spPr>
            <a:xfrm>
              <a:off x="0" y="0"/>
              <a:ext cx="4484371" cy="167805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02"/>
                  </a:moveTo>
                  <a:lnTo>
                    <a:pt x="29" y="612"/>
                  </a:lnTo>
                  <a:lnTo>
                    <a:pt x="110" y="294"/>
                  </a:lnTo>
                  <a:lnTo>
                    <a:pt x="229" y="79"/>
                  </a:lnTo>
                  <a:lnTo>
                    <a:pt x="375" y="0"/>
                  </a:lnTo>
                  <a:lnTo>
                    <a:pt x="21225" y="0"/>
                  </a:lnTo>
                  <a:lnTo>
                    <a:pt x="21371" y="79"/>
                  </a:lnTo>
                  <a:lnTo>
                    <a:pt x="21490" y="294"/>
                  </a:lnTo>
                  <a:lnTo>
                    <a:pt x="21571" y="612"/>
                  </a:lnTo>
                  <a:lnTo>
                    <a:pt x="21600" y="1002"/>
                  </a:lnTo>
                  <a:lnTo>
                    <a:pt x="21600" y="20600"/>
                  </a:lnTo>
                  <a:lnTo>
                    <a:pt x="21571" y="20989"/>
                  </a:lnTo>
                  <a:lnTo>
                    <a:pt x="21490" y="21307"/>
                  </a:lnTo>
                  <a:lnTo>
                    <a:pt x="21371" y="21521"/>
                  </a:lnTo>
                  <a:lnTo>
                    <a:pt x="21225" y="21600"/>
                  </a:lnTo>
                  <a:lnTo>
                    <a:pt x="375" y="21600"/>
                  </a:lnTo>
                  <a:lnTo>
                    <a:pt x="229" y="21521"/>
                  </a:lnTo>
                  <a:lnTo>
                    <a:pt x="110" y="21307"/>
                  </a:lnTo>
                  <a:lnTo>
                    <a:pt x="29" y="20989"/>
                  </a:lnTo>
                  <a:lnTo>
                    <a:pt x="0" y="20600"/>
                  </a:lnTo>
                  <a:lnTo>
                    <a:pt x="0" y="1002"/>
                  </a:lnTo>
                  <a:close/>
                </a:path>
              </a:pathLst>
            </a:custGeom>
            <a:noFill/>
            <a:ln w="7620" cap="flat">
              <a:solidFill>
                <a:srgbClr val="55555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13" name="object 14"/>
          <p:cNvSpPr txBox="1"/>
          <p:nvPr/>
        </p:nvSpPr>
        <p:spPr>
          <a:xfrm>
            <a:off x="882306" y="5154591"/>
            <a:ext cx="4111626" cy="1135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pc="45" sz="1500">
                <a:solidFill>
                  <a:srgbClr val="E4DFD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Complete</a:t>
            </a:r>
            <a:r>
              <a:rPr spc="-45"/>
              <a:t> </a:t>
            </a:r>
            <a:r>
              <a:rPr spc="-104"/>
              <a:t>ML</a:t>
            </a:r>
            <a:r>
              <a:rPr spc="-40"/>
              <a:t> </a:t>
            </a:r>
            <a:r>
              <a:rPr spc="-10"/>
              <a:t>Pipeline</a:t>
            </a:r>
          </a:p>
          <a:p>
            <a:pPr marR="5080" indent="12700">
              <a:lnSpc>
                <a:spcPct val="118900"/>
              </a:lnSpc>
              <a:spcBef>
                <a:spcPts val="1200"/>
              </a:spcBef>
              <a:defRPr sz="1400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Demonstrated</a:t>
            </a:r>
            <a:r>
              <a:rPr spc="45"/>
              <a:t> </a:t>
            </a:r>
            <a:r>
              <a:t>end-</a:t>
            </a:r>
            <a:r>
              <a:rPr spc="-20"/>
              <a:t>to-</a:t>
            </a:r>
            <a:r>
              <a:rPr spc="55"/>
              <a:t>end</a:t>
            </a:r>
            <a:r>
              <a:rPr spc="60"/>
              <a:t> </a:t>
            </a:r>
            <a:r>
              <a:rPr spc="50"/>
              <a:t>forensic</a:t>
            </a:r>
            <a:r>
              <a:rPr spc="125"/>
              <a:t> </a:t>
            </a:r>
            <a:r>
              <a:rPr spc="80"/>
              <a:t>machine</a:t>
            </a:r>
            <a:r>
              <a:rPr spc="120"/>
              <a:t> </a:t>
            </a:r>
            <a:r>
              <a:rPr spc="-10"/>
              <a:t>learning: </a:t>
            </a:r>
            <a:r>
              <a:rPr spc="55"/>
              <a:t>from</a:t>
            </a:r>
            <a:r>
              <a:rPr spc="25"/>
              <a:t> </a:t>
            </a:r>
            <a:r>
              <a:rPr spc="85"/>
              <a:t>data</a:t>
            </a:r>
            <a:r>
              <a:rPr spc="20"/>
              <a:t> collection</a:t>
            </a:r>
            <a:r>
              <a:rPr spc="35"/>
              <a:t> </a:t>
            </a:r>
            <a:r>
              <a:rPr spc="20"/>
              <a:t>through</a:t>
            </a:r>
            <a:r>
              <a:rPr spc="45"/>
              <a:t> </a:t>
            </a:r>
            <a:r>
              <a:rPr spc="55"/>
              <a:t>model</a:t>
            </a:r>
            <a:r>
              <a:rPr spc="5"/>
              <a:t> </a:t>
            </a:r>
            <a:r>
              <a:rPr spc="20"/>
              <a:t>explainability</a:t>
            </a:r>
            <a:r>
              <a:rPr spc="15"/>
              <a:t> </a:t>
            </a:r>
            <a:r>
              <a:rPr spc="-25"/>
              <a:t>to </a:t>
            </a:r>
            <a:r>
              <a:t>production</a:t>
            </a:r>
            <a:r>
              <a:rPr spc="245"/>
              <a:t> </a:t>
            </a:r>
            <a:r>
              <a:rPr spc="-10"/>
              <a:t>deployment</a:t>
            </a:r>
          </a:p>
        </p:txBody>
      </p:sp>
      <p:grpSp>
        <p:nvGrpSpPr>
          <p:cNvPr id="116" name="object 15"/>
          <p:cNvGrpSpPr/>
          <p:nvPr/>
        </p:nvGrpSpPr>
        <p:grpSpPr>
          <a:xfrm>
            <a:off x="6866398" y="4906535"/>
            <a:ext cx="4202304" cy="1631824"/>
            <a:chOff x="0" y="0"/>
            <a:chExt cx="4202303" cy="1631823"/>
          </a:xfrm>
        </p:grpSpPr>
        <p:sp>
          <p:nvSpPr>
            <p:cNvPr id="114" name="object 16"/>
            <p:cNvSpPr/>
            <p:nvPr/>
          </p:nvSpPr>
          <p:spPr>
            <a:xfrm>
              <a:off x="0" y="0"/>
              <a:ext cx="4202304" cy="16318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211" y="0"/>
                  </a:moveTo>
                  <a:lnTo>
                    <a:pt x="389" y="0"/>
                  </a:lnTo>
                  <a:lnTo>
                    <a:pt x="238" y="79"/>
                  </a:lnTo>
                  <a:lnTo>
                    <a:pt x="114" y="294"/>
                  </a:lnTo>
                  <a:lnTo>
                    <a:pt x="31" y="612"/>
                  </a:lnTo>
                  <a:lnTo>
                    <a:pt x="0" y="1002"/>
                  </a:lnTo>
                  <a:lnTo>
                    <a:pt x="0" y="20598"/>
                  </a:lnTo>
                  <a:lnTo>
                    <a:pt x="31" y="20988"/>
                  </a:lnTo>
                  <a:lnTo>
                    <a:pt x="114" y="21306"/>
                  </a:lnTo>
                  <a:lnTo>
                    <a:pt x="238" y="21521"/>
                  </a:lnTo>
                  <a:lnTo>
                    <a:pt x="389" y="21600"/>
                  </a:lnTo>
                  <a:lnTo>
                    <a:pt x="21211" y="21600"/>
                  </a:lnTo>
                  <a:lnTo>
                    <a:pt x="21362" y="21521"/>
                  </a:lnTo>
                  <a:lnTo>
                    <a:pt x="21486" y="21306"/>
                  </a:lnTo>
                  <a:lnTo>
                    <a:pt x="21569" y="20988"/>
                  </a:lnTo>
                  <a:lnTo>
                    <a:pt x="21600" y="20598"/>
                  </a:lnTo>
                  <a:lnTo>
                    <a:pt x="21600" y="1002"/>
                  </a:lnTo>
                  <a:lnTo>
                    <a:pt x="21569" y="612"/>
                  </a:lnTo>
                  <a:lnTo>
                    <a:pt x="21486" y="294"/>
                  </a:lnTo>
                  <a:lnTo>
                    <a:pt x="21362" y="79"/>
                  </a:lnTo>
                  <a:lnTo>
                    <a:pt x="21211" y="0"/>
                  </a:lnTo>
                  <a:close/>
                </a:path>
              </a:pathLst>
            </a:custGeom>
            <a:solidFill>
              <a:srgbClr val="3C3C4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5" name="object 17"/>
            <p:cNvSpPr/>
            <p:nvPr/>
          </p:nvSpPr>
          <p:spPr>
            <a:xfrm>
              <a:off x="0" y="0"/>
              <a:ext cx="4202304" cy="16318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02"/>
                  </a:moveTo>
                  <a:lnTo>
                    <a:pt x="31" y="612"/>
                  </a:lnTo>
                  <a:lnTo>
                    <a:pt x="114" y="294"/>
                  </a:lnTo>
                  <a:lnTo>
                    <a:pt x="238" y="79"/>
                  </a:lnTo>
                  <a:lnTo>
                    <a:pt x="389" y="0"/>
                  </a:lnTo>
                  <a:lnTo>
                    <a:pt x="21211" y="0"/>
                  </a:lnTo>
                  <a:lnTo>
                    <a:pt x="21362" y="79"/>
                  </a:lnTo>
                  <a:lnTo>
                    <a:pt x="21486" y="294"/>
                  </a:lnTo>
                  <a:lnTo>
                    <a:pt x="21569" y="612"/>
                  </a:lnTo>
                  <a:lnTo>
                    <a:pt x="21600" y="1002"/>
                  </a:lnTo>
                  <a:lnTo>
                    <a:pt x="21600" y="20598"/>
                  </a:lnTo>
                  <a:lnTo>
                    <a:pt x="21569" y="20988"/>
                  </a:lnTo>
                  <a:lnTo>
                    <a:pt x="21486" y="21306"/>
                  </a:lnTo>
                  <a:lnTo>
                    <a:pt x="21362" y="21521"/>
                  </a:lnTo>
                  <a:lnTo>
                    <a:pt x="21211" y="21600"/>
                  </a:lnTo>
                  <a:lnTo>
                    <a:pt x="389" y="21600"/>
                  </a:lnTo>
                  <a:lnTo>
                    <a:pt x="238" y="21521"/>
                  </a:lnTo>
                  <a:lnTo>
                    <a:pt x="114" y="21306"/>
                  </a:lnTo>
                  <a:lnTo>
                    <a:pt x="31" y="20988"/>
                  </a:lnTo>
                  <a:lnTo>
                    <a:pt x="0" y="20598"/>
                  </a:lnTo>
                  <a:lnTo>
                    <a:pt x="0" y="1002"/>
                  </a:lnTo>
                  <a:close/>
                </a:path>
              </a:pathLst>
            </a:custGeom>
            <a:noFill/>
            <a:ln w="7620" cap="flat">
              <a:solidFill>
                <a:srgbClr val="55555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17" name="object 18"/>
          <p:cNvSpPr txBox="1"/>
          <p:nvPr/>
        </p:nvSpPr>
        <p:spPr>
          <a:xfrm>
            <a:off x="7070487" y="5160941"/>
            <a:ext cx="3794126" cy="1123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500">
                <a:solidFill>
                  <a:srgbClr val="E4DFD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Forensic</a:t>
            </a:r>
            <a:r>
              <a:rPr spc="-30"/>
              <a:t> </a:t>
            </a:r>
            <a:r>
              <a:rPr spc="-10"/>
              <a:t>Applications</a:t>
            </a:r>
          </a:p>
          <a:p>
            <a:pPr marR="5080" indent="12700">
              <a:lnSpc>
                <a:spcPct val="118900"/>
              </a:lnSpc>
              <a:spcBef>
                <a:spcPts val="1100"/>
              </a:spcBef>
              <a:defRPr spc="60" sz="1400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Practical</a:t>
            </a:r>
            <a:r>
              <a:rPr spc="100"/>
              <a:t> </a:t>
            </a:r>
            <a:r>
              <a:rPr spc="0"/>
              <a:t>tool</a:t>
            </a:r>
            <a:r>
              <a:rPr spc="75"/>
              <a:t> </a:t>
            </a:r>
            <a:r>
              <a:rPr spc="0"/>
              <a:t>for</a:t>
            </a:r>
            <a:r>
              <a:rPr spc="94"/>
              <a:t> </a:t>
            </a:r>
            <a:r>
              <a:t>document</a:t>
            </a:r>
            <a:r>
              <a:rPr spc="85"/>
              <a:t> </a:t>
            </a:r>
            <a:r>
              <a:rPr spc="0"/>
              <a:t>authentication,</a:t>
            </a:r>
            <a:r>
              <a:rPr spc="70"/>
              <a:t> </a:t>
            </a:r>
            <a:r>
              <a:rPr spc="50"/>
              <a:t>fraud </a:t>
            </a:r>
            <a:r>
              <a:rPr spc="0"/>
              <a:t>detection,</a:t>
            </a:r>
            <a:r>
              <a:rPr spc="-20"/>
              <a:t> </a:t>
            </a:r>
            <a:r>
              <a:rPr spc="90"/>
              <a:t>and</a:t>
            </a:r>
            <a:r>
              <a:rPr spc="20"/>
              <a:t> </a:t>
            </a:r>
            <a:r>
              <a:rPr spc="70"/>
              <a:t>legal</a:t>
            </a:r>
            <a:r>
              <a:rPr spc="5"/>
              <a:t> </a:t>
            </a:r>
            <a:r>
              <a:rPr spc="65"/>
              <a:t>investigations</a:t>
            </a:r>
            <a:r>
              <a:rPr spc="0"/>
              <a:t> </a:t>
            </a:r>
            <a:r>
              <a:rPr spc="-10"/>
              <a:t>requiring </a:t>
            </a:r>
            <a:r>
              <a:rPr spc="70"/>
              <a:t>scanner</a:t>
            </a:r>
            <a:r>
              <a:rPr spc="125"/>
              <a:t> </a:t>
            </a:r>
            <a:r>
              <a:rPr spc="0"/>
              <a:t>source</a:t>
            </a:r>
            <a:r>
              <a:rPr spc="120"/>
              <a:t> </a:t>
            </a:r>
            <a:r>
              <a:rPr spc="-10"/>
              <a:t>attribution</a:t>
            </a:r>
          </a:p>
        </p:txBody>
      </p:sp>
      <p:grpSp>
        <p:nvGrpSpPr>
          <p:cNvPr id="120" name="object 19"/>
          <p:cNvGrpSpPr/>
          <p:nvPr/>
        </p:nvGrpSpPr>
        <p:grpSpPr>
          <a:xfrm>
            <a:off x="712202" y="6807072"/>
            <a:ext cx="10385198" cy="1049159"/>
            <a:chOff x="0" y="0"/>
            <a:chExt cx="10385197" cy="1049157"/>
          </a:xfrm>
        </p:grpSpPr>
        <p:sp>
          <p:nvSpPr>
            <p:cNvPr id="118" name="object 20"/>
            <p:cNvSpPr/>
            <p:nvPr/>
          </p:nvSpPr>
          <p:spPr>
            <a:xfrm>
              <a:off x="0" y="0"/>
              <a:ext cx="10385198" cy="10491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444" y="0"/>
                  </a:moveTo>
                  <a:lnTo>
                    <a:pt x="156" y="0"/>
                  </a:lnTo>
                  <a:lnTo>
                    <a:pt x="96" y="122"/>
                  </a:lnTo>
                  <a:lnTo>
                    <a:pt x="46" y="453"/>
                  </a:lnTo>
                  <a:lnTo>
                    <a:pt x="12" y="945"/>
                  </a:lnTo>
                  <a:lnTo>
                    <a:pt x="0" y="1549"/>
                  </a:lnTo>
                  <a:lnTo>
                    <a:pt x="0" y="20051"/>
                  </a:lnTo>
                  <a:lnTo>
                    <a:pt x="12" y="20654"/>
                  </a:lnTo>
                  <a:lnTo>
                    <a:pt x="46" y="21147"/>
                  </a:lnTo>
                  <a:lnTo>
                    <a:pt x="96" y="21478"/>
                  </a:lnTo>
                  <a:lnTo>
                    <a:pt x="156" y="21600"/>
                  </a:lnTo>
                  <a:lnTo>
                    <a:pt x="21444" y="21600"/>
                  </a:lnTo>
                  <a:lnTo>
                    <a:pt x="21504" y="21478"/>
                  </a:lnTo>
                  <a:lnTo>
                    <a:pt x="21554" y="21147"/>
                  </a:lnTo>
                  <a:lnTo>
                    <a:pt x="21588" y="20654"/>
                  </a:lnTo>
                  <a:lnTo>
                    <a:pt x="21600" y="20051"/>
                  </a:lnTo>
                  <a:lnTo>
                    <a:pt x="21600" y="1549"/>
                  </a:lnTo>
                  <a:lnTo>
                    <a:pt x="21588" y="945"/>
                  </a:lnTo>
                  <a:lnTo>
                    <a:pt x="21554" y="453"/>
                  </a:lnTo>
                  <a:lnTo>
                    <a:pt x="21504" y="122"/>
                  </a:lnTo>
                  <a:lnTo>
                    <a:pt x="21444" y="0"/>
                  </a:lnTo>
                  <a:close/>
                </a:path>
              </a:pathLst>
            </a:custGeom>
            <a:solidFill>
              <a:srgbClr val="3C3C42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9" name="object 21"/>
            <p:cNvSpPr/>
            <p:nvPr/>
          </p:nvSpPr>
          <p:spPr>
            <a:xfrm>
              <a:off x="0" y="0"/>
              <a:ext cx="10385198" cy="10491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549"/>
                  </a:moveTo>
                  <a:lnTo>
                    <a:pt x="12" y="945"/>
                  </a:lnTo>
                  <a:lnTo>
                    <a:pt x="46" y="453"/>
                  </a:lnTo>
                  <a:lnTo>
                    <a:pt x="96" y="122"/>
                  </a:lnTo>
                  <a:lnTo>
                    <a:pt x="156" y="0"/>
                  </a:lnTo>
                  <a:lnTo>
                    <a:pt x="21444" y="0"/>
                  </a:lnTo>
                  <a:lnTo>
                    <a:pt x="21504" y="122"/>
                  </a:lnTo>
                  <a:lnTo>
                    <a:pt x="21554" y="453"/>
                  </a:lnTo>
                  <a:lnTo>
                    <a:pt x="21588" y="945"/>
                  </a:lnTo>
                  <a:lnTo>
                    <a:pt x="21600" y="1549"/>
                  </a:lnTo>
                  <a:lnTo>
                    <a:pt x="21600" y="20051"/>
                  </a:lnTo>
                  <a:lnTo>
                    <a:pt x="21588" y="20654"/>
                  </a:lnTo>
                  <a:lnTo>
                    <a:pt x="21554" y="21147"/>
                  </a:lnTo>
                  <a:lnTo>
                    <a:pt x="21504" y="21478"/>
                  </a:lnTo>
                  <a:lnTo>
                    <a:pt x="21444" y="21600"/>
                  </a:lnTo>
                  <a:lnTo>
                    <a:pt x="156" y="21600"/>
                  </a:lnTo>
                  <a:lnTo>
                    <a:pt x="96" y="21478"/>
                  </a:lnTo>
                  <a:lnTo>
                    <a:pt x="46" y="21147"/>
                  </a:lnTo>
                  <a:lnTo>
                    <a:pt x="12" y="20654"/>
                  </a:lnTo>
                  <a:lnTo>
                    <a:pt x="0" y="20051"/>
                  </a:lnTo>
                  <a:lnTo>
                    <a:pt x="0" y="1549"/>
                  </a:lnTo>
                  <a:close/>
                </a:path>
              </a:pathLst>
            </a:custGeom>
            <a:noFill/>
            <a:ln w="7620" cap="flat">
              <a:solidFill>
                <a:srgbClr val="55555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21" name="object 22"/>
          <p:cNvSpPr txBox="1"/>
          <p:nvPr/>
        </p:nvSpPr>
        <p:spPr>
          <a:xfrm>
            <a:off x="939483" y="6925251"/>
            <a:ext cx="867156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500">
                <a:solidFill>
                  <a:srgbClr val="E4DFD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Future</a:t>
            </a:r>
            <a:r>
              <a:rPr spc="-90"/>
              <a:t> </a:t>
            </a:r>
            <a:r>
              <a:rPr spc="-10"/>
              <a:t>Directions</a:t>
            </a:r>
          </a:p>
          <a:p>
            <a:pPr indent="12700">
              <a:spcBef>
                <a:spcPts val="1000"/>
              </a:spcBef>
              <a:defRPr spc="65" sz="1400">
                <a:solidFill>
                  <a:srgbClr val="E4DFDF"/>
                </a:solidFill>
                <a:latin typeface="Gill Sans MT"/>
                <a:ea typeface="Gill Sans MT"/>
                <a:cs typeface="Gill Sans MT"/>
                <a:sym typeface="Gill Sans MT"/>
              </a:defRPr>
            </a:pPr>
            <a:r>
              <a:t>Expand</a:t>
            </a:r>
            <a:r>
              <a:rPr spc="60"/>
              <a:t> </a:t>
            </a:r>
            <a:r>
              <a:rPr spc="0"/>
              <a:t>to</a:t>
            </a:r>
            <a:r>
              <a:rPr spc="85"/>
              <a:t> </a:t>
            </a:r>
            <a:r>
              <a:rPr spc="0"/>
              <a:t>more</a:t>
            </a:r>
            <a:r>
              <a:rPr spc="55"/>
              <a:t> </a:t>
            </a:r>
            <a:r>
              <a:rPr spc="70"/>
              <a:t>scanner</a:t>
            </a:r>
            <a:r>
              <a:rPr spc="104"/>
              <a:t> </a:t>
            </a:r>
            <a:r>
              <a:rPr spc="55"/>
              <a:t>brands,</a:t>
            </a:r>
            <a:r>
              <a:rPr spc="70"/>
              <a:t> </a:t>
            </a:r>
            <a:r>
              <a:rPr spc="0"/>
              <a:t>explore</a:t>
            </a:r>
            <a:r>
              <a:rPr spc="70"/>
              <a:t> </a:t>
            </a:r>
            <a:r>
              <a:rPr spc="0"/>
              <a:t>printer</a:t>
            </a:r>
            <a:r>
              <a:rPr spc="90"/>
              <a:t> </a:t>
            </a:r>
            <a:r>
              <a:rPr spc="0"/>
              <a:t>identification,</a:t>
            </a:r>
            <a:r>
              <a:rPr spc="30"/>
              <a:t> </a:t>
            </a:r>
            <a:r>
              <a:rPr spc="90"/>
              <a:t>and</a:t>
            </a:r>
            <a:r>
              <a:rPr spc="80"/>
              <a:t> </a:t>
            </a:r>
            <a:r>
              <a:rPr spc="0"/>
              <a:t>integrate</a:t>
            </a:r>
            <a:r>
              <a:rPr spc="55"/>
              <a:t> </a:t>
            </a:r>
            <a:r>
              <a:rPr spc="0"/>
              <a:t>with</a:t>
            </a:r>
            <a:r>
              <a:rPr spc="80"/>
              <a:t> </a:t>
            </a:r>
            <a:r>
              <a:rPr spc="60"/>
              <a:t>document</a:t>
            </a:r>
            <a:r>
              <a:rPr spc="70"/>
              <a:t> </a:t>
            </a:r>
            <a:r>
              <a:rPr spc="0"/>
              <a:t>verification</a:t>
            </a:r>
            <a:r>
              <a:rPr spc="75"/>
              <a:t> </a:t>
            </a:r>
            <a:r>
              <a:rPr spc="94"/>
              <a:t>systems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